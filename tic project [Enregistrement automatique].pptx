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258" r:id="rId3"/>
    <p:sldId id="270" r:id="rId4"/>
    <p:sldId id="264" r:id="rId5"/>
    <p:sldId id="260" r:id="rId6"/>
    <p:sldId id="261" r:id="rId7"/>
    <p:sldId id="263" r:id="rId8"/>
    <p:sldId id="265" r:id="rId9"/>
    <p:sldId id="266" r:id="rId10"/>
    <p:sldId id="267" r:id="rId11"/>
    <p:sldId id="268" r:id="rId12"/>
    <p:sldId id="271" r:id="rId13"/>
    <p:sldId id="292" r:id="rId14"/>
    <p:sldId id="291" r:id="rId15"/>
    <p:sldId id="293" r:id="rId16"/>
    <p:sldId id="294" r:id="rId17"/>
    <p:sldId id="295" r:id="rId18"/>
    <p:sldId id="296" r:id="rId19"/>
    <p:sldId id="297" r:id="rId20"/>
    <p:sldId id="298" r:id="rId21"/>
    <p:sldId id="299" r:id="rId22"/>
    <p:sldId id="300" r:id="rId23"/>
    <p:sldId id="301" r:id="rId24"/>
    <p:sldId id="302" r:id="rId2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05F6907F-C4D3-4E8B-A3EB-7BFB8B10EC57}">
          <p14:sldIdLst>
            <p14:sldId id="257"/>
            <p14:sldId id="258"/>
          </p14:sldIdLst>
        </p14:section>
        <p14:section name="home" id="{1CE11CF4-9917-4F59-916D-F47990FD3399}">
          <p14:sldIdLst>
            <p14:sldId id="270"/>
          </p14:sldIdLst>
        </p14:section>
        <p14:section name="ch1" id="{8916EF1F-A364-46AC-8A86-093D237F3E74}">
          <p14:sldIdLst>
            <p14:sldId id="264"/>
            <p14:sldId id="260"/>
            <p14:sldId id="261"/>
          </p14:sldIdLst>
        </p14:section>
        <p14:section name="ch2" id="{624FFB7F-433E-4F06-B504-7219EC90B4C6}">
          <p14:sldIdLst>
            <p14:sldId id="263"/>
            <p14:sldId id="265"/>
            <p14:sldId id="266"/>
            <p14:sldId id="267"/>
            <p14:sldId id="268"/>
          </p14:sldIdLst>
        </p14:section>
        <p14:section name="ch3" id="{7065957F-352F-4EF6-A0C0-6B339F38B9E1}">
          <p14:sldIdLst>
            <p14:sldId id="271"/>
            <p14:sldId id="292"/>
            <p14:sldId id="291"/>
            <p14:sldId id="293"/>
            <p14:sldId id="294"/>
            <p14:sldId id="295"/>
            <p14:sldId id="296"/>
            <p14:sldId id="297"/>
            <p14:sldId id="298"/>
            <p14:sldId id="299"/>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C39BE1"/>
    <a:srgbClr val="917FFD"/>
    <a:srgbClr val="A162D0"/>
    <a:srgbClr val="954ECA"/>
    <a:srgbClr val="6000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379" autoAdjust="0"/>
  </p:normalViewPr>
  <p:slideViewPr>
    <p:cSldViewPr snapToGrid="0">
      <p:cViewPr>
        <p:scale>
          <a:sx n="78" d="100"/>
          <a:sy n="78" d="100"/>
        </p:scale>
        <p:origin x="87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D7BC13-7958-42BF-96F3-C74C76912117}" type="datetimeFigureOut">
              <a:rPr lang="fr-FR" smtClean="0"/>
              <a:t>24/12/2025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E6975-7F77-4F23-80FF-B91C41A51E76}" type="slidenum">
              <a:rPr lang="fr-FR" smtClean="0"/>
              <a:t>‹N°›</a:t>
            </a:fld>
            <a:endParaRPr lang="fr-FR"/>
          </a:p>
        </p:txBody>
      </p:sp>
    </p:spTree>
    <p:extLst>
      <p:ext uri="{BB962C8B-B14F-4D97-AF65-F5344CB8AC3E}">
        <p14:creationId xmlns:p14="http://schemas.microsoft.com/office/powerpoint/2010/main" val="2202425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49E6975-7F77-4F23-80FF-B91C41A51E76}" type="slidenum">
              <a:rPr lang="fr-FR" smtClean="0"/>
              <a:t>9</a:t>
            </a:fld>
            <a:endParaRPr lang="fr-FR"/>
          </a:p>
        </p:txBody>
      </p:sp>
    </p:spTree>
    <p:extLst>
      <p:ext uri="{BB962C8B-B14F-4D97-AF65-F5344CB8AC3E}">
        <p14:creationId xmlns:p14="http://schemas.microsoft.com/office/powerpoint/2010/main" val="3336290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69C-3F27-665D-1353-90E2EA7D3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0A0BCA-AA4E-9672-0786-1E814A0F160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BDC0287-23E1-F90D-D99B-A4633F34016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A569D5C-71D2-0119-FCA7-9D3A04F0D37B}"/>
              </a:ext>
            </a:extLst>
          </p:cNvPr>
          <p:cNvSpPr>
            <a:spLocks noGrp="1"/>
          </p:cNvSpPr>
          <p:nvPr>
            <p:ph type="sldNum" sz="quarter" idx="5"/>
          </p:nvPr>
        </p:nvSpPr>
        <p:spPr/>
        <p:txBody>
          <a:bodyPr/>
          <a:lstStyle/>
          <a:p>
            <a:fld id="{549E6975-7F77-4F23-80FF-B91C41A51E76}" type="slidenum">
              <a:rPr lang="fr-FR" smtClean="0"/>
              <a:t>10</a:t>
            </a:fld>
            <a:endParaRPr lang="fr-FR"/>
          </a:p>
        </p:txBody>
      </p:sp>
    </p:spTree>
    <p:extLst>
      <p:ext uri="{BB962C8B-B14F-4D97-AF65-F5344CB8AC3E}">
        <p14:creationId xmlns:p14="http://schemas.microsoft.com/office/powerpoint/2010/main" val="2062696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58168-55D2-9948-CD72-1C997D1839C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C6678FC-AB1F-6873-3229-3F1BAC328E4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F785BC6-9E2A-601D-CC70-1B95A21CC01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182C761-4190-C963-FB0B-47AA4C0903C5}"/>
              </a:ext>
            </a:extLst>
          </p:cNvPr>
          <p:cNvSpPr>
            <a:spLocks noGrp="1"/>
          </p:cNvSpPr>
          <p:nvPr>
            <p:ph type="sldNum" sz="quarter" idx="5"/>
          </p:nvPr>
        </p:nvSpPr>
        <p:spPr/>
        <p:txBody>
          <a:bodyPr/>
          <a:lstStyle/>
          <a:p>
            <a:fld id="{549E6975-7F77-4F23-80FF-B91C41A51E76}" type="slidenum">
              <a:rPr lang="fr-FR" smtClean="0"/>
              <a:t>11</a:t>
            </a:fld>
            <a:endParaRPr lang="fr-FR"/>
          </a:p>
        </p:txBody>
      </p:sp>
    </p:spTree>
    <p:extLst>
      <p:ext uri="{BB962C8B-B14F-4D97-AF65-F5344CB8AC3E}">
        <p14:creationId xmlns:p14="http://schemas.microsoft.com/office/powerpoint/2010/main" val="529214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49E6975-7F77-4F23-80FF-B91C41A51E76}" type="slidenum">
              <a:rPr lang="fr-FR" smtClean="0"/>
              <a:t>17</a:t>
            </a:fld>
            <a:endParaRPr lang="fr-FR"/>
          </a:p>
        </p:txBody>
      </p:sp>
    </p:spTree>
    <p:extLst>
      <p:ext uri="{BB962C8B-B14F-4D97-AF65-F5344CB8AC3E}">
        <p14:creationId xmlns:p14="http://schemas.microsoft.com/office/powerpoint/2010/main" val="2263034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49E6975-7F77-4F23-80FF-B91C41A51E76}" type="slidenum">
              <a:rPr lang="fr-FR" smtClean="0"/>
              <a:t>21</a:t>
            </a:fld>
            <a:endParaRPr lang="fr-FR"/>
          </a:p>
        </p:txBody>
      </p:sp>
    </p:spTree>
    <p:extLst>
      <p:ext uri="{BB962C8B-B14F-4D97-AF65-F5344CB8AC3E}">
        <p14:creationId xmlns:p14="http://schemas.microsoft.com/office/powerpoint/2010/main" val="2180214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A4A3FF-1FCB-BCC8-B48E-2A1E4E70B1E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C5A9652-A85D-384D-991D-D930994C63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2E01EF6-5358-B1E9-2B19-9384DFA01326}"/>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5" name="Espace réservé du pied de page 4">
            <a:extLst>
              <a:ext uri="{FF2B5EF4-FFF2-40B4-BE49-F238E27FC236}">
                <a16:creationId xmlns:a16="http://schemas.microsoft.com/office/drawing/2014/main" id="{090A4E09-8E6E-127D-FDD2-335EE3B6A84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50C9D9D-4C39-B0B4-0126-EABC1C0E0FD8}"/>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3872106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196576-E33E-3BA1-54E5-64C8058DF63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A9269EE-63EC-2C6D-E068-87F54246317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765DEB-3F69-96F1-D55F-3D2C4F5DBF56}"/>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5" name="Espace réservé du pied de page 4">
            <a:extLst>
              <a:ext uri="{FF2B5EF4-FFF2-40B4-BE49-F238E27FC236}">
                <a16:creationId xmlns:a16="http://schemas.microsoft.com/office/drawing/2014/main" id="{0B033C18-10C1-A75D-3F57-8DEC771F09F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E5C7DAE-E432-60C2-07A8-BF81E878B051}"/>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530881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FA1EDF-3126-48AF-7487-840F031FFDE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9B92BEA-8972-D52D-0C4B-ED732E3D77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785263B-E186-398F-B9A8-0512DCB8B81D}"/>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5" name="Espace réservé du pied de page 4">
            <a:extLst>
              <a:ext uri="{FF2B5EF4-FFF2-40B4-BE49-F238E27FC236}">
                <a16:creationId xmlns:a16="http://schemas.microsoft.com/office/drawing/2014/main" id="{CAA59097-48B7-D215-41E7-10528A7E65C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96B7887-E631-8C6D-7F86-F032BE257493}"/>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1591779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E4B879-A74B-AEE5-0A46-83E0B4C9C8F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3CD98D3-7425-DE90-A586-8AC8F8264A1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413467C-A31C-E273-A7A4-7A72F42D200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BBB0417-2E19-8493-B8BC-B657229D5D33}"/>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6" name="Espace réservé du pied de page 5">
            <a:extLst>
              <a:ext uri="{FF2B5EF4-FFF2-40B4-BE49-F238E27FC236}">
                <a16:creationId xmlns:a16="http://schemas.microsoft.com/office/drawing/2014/main" id="{942E5EDF-66A3-B0A7-ED8A-52700A5974E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C8CBCB0-888E-28CA-D435-EC23083FBFD5}"/>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2984861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B2AE7C-B165-B485-3280-A1CDD72BF0C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843CBB3-6A0C-F137-8198-957B61C02B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8BBC8D3-4AEB-F8FB-39F8-233F9C7E41C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5D1A509-DF2E-0FFA-1158-8A4F068D18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556ED8E-106D-E8D1-1BC9-1F531A949AD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9B5ED9D-578A-5642-C125-40634BFCFFE0}"/>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8" name="Espace réservé du pied de page 7">
            <a:extLst>
              <a:ext uri="{FF2B5EF4-FFF2-40B4-BE49-F238E27FC236}">
                <a16:creationId xmlns:a16="http://schemas.microsoft.com/office/drawing/2014/main" id="{C802CD88-5163-0475-5A1C-672F4205FD4E}"/>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653D3C0-D2AF-8634-ED39-F3822B128B33}"/>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2940060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4D1633-668E-17C4-1232-C6ADC0AA276B}"/>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FE74716-84CC-AE79-3C31-EC99B9C4FC4A}"/>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4" name="Espace réservé du pied de page 3">
            <a:extLst>
              <a:ext uri="{FF2B5EF4-FFF2-40B4-BE49-F238E27FC236}">
                <a16:creationId xmlns:a16="http://schemas.microsoft.com/office/drawing/2014/main" id="{0E4F6EFC-E4BB-2EFC-7CDE-B16ECCE6231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81EBE79-BEDD-CE63-5D62-F87F0BADBB53}"/>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2879673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1A65F3D-FF2C-F690-F013-CA8F3C4D01B9}"/>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3" name="Espace réservé du pied de page 2">
            <a:extLst>
              <a:ext uri="{FF2B5EF4-FFF2-40B4-BE49-F238E27FC236}">
                <a16:creationId xmlns:a16="http://schemas.microsoft.com/office/drawing/2014/main" id="{96480695-BE25-068A-59E4-E445096ADB3F}"/>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C106328-7C99-67C9-2FB2-5113912D96C0}"/>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1897758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CD277D-6BDE-8BD1-AAB0-1325EB5877C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26C8AE7-978F-4375-8E30-FD4B8BDB96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1FB4284-3863-3932-4447-FCD49413F9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78F6A3E-7F06-835C-8680-615C3F666686}"/>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6" name="Espace réservé du pied de page 5">
            <a:extLst>
              <a:ext uri="{FF2B5EF4-FFF2-40B4-BE49-F238E27FC236}">
                <a16:creationId xmlns:a16="http://schemas.microsoft.com/office/drawing/2014/main" id="{6A181BFA-67D6-6FE3-8236-3ED1EA5DA1B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7B1B4A3-B74E-9602-9063-691128EEC03E}"/>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4051722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249BF2-C26A-C011-16F0-7C1E90D8D76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CFCBACD-517A-2559-11A7-3357A67A2E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2968884-FE0E-638C-4C55-2B92DCDA0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5BB5E4D-6CAC-16E1-1B66-7DFB2F34F0F8}"/>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6" name="Espace réservé du pied de page 5">
            <a:extLst>
              <a:ext uri="{FF2B5EF4-FFF2-40B4-BE49-F238E27FC236}">
                <a16:creationId xmlns:a16="http://schemas.microsoft.com/office/drawing/2014/main" id="{FA6D921A-988B-AD24-B8B0-24E7C00F90C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71FFB8B-6317-E7D5-7E4C-65FDAA38F139}"/>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1211148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36BBEC-2F5B-75AC-3AAD-0CBF6C5015F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F18192D-EF20-59AB-3286-F3A4C2D7131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FA1BD93-0C09-65A4-ADB7-9727249F3EE7}"/>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5" name="Espace réservé du pied de page 4">
            <a:extLst>
              <a:ext uri="{FF2B5EF4-FFF2-40B4-BE49-F238E27FC236}">
                <a16:creationId xmlns:a16="http://schemas.microsoft.com/office/drawing/2014/main" id="{DC752DF1-DD50-C7D3-A717-A2F6E324A9E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223CF74-DC00-E1DE-7391-BB953E1D0B16}"/>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1133852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DECBDF1-00DB-CF54-F288-15E9B1BDFA6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9D61604-4B4C-12A9-33DD-B201A060A5B7}"/>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79300EC-EAF5-D410-CD37-06628DF21595}"/>
              </a:ext>
            </a:extLst>
          </p:cNvPr>
          <p:cNvSpPr>
            <a:spLocks noGrp="1"/>
          </p:cNvSpPr>
          <p:nvPr>
            <p:ph type="dt" sz="half" idx="10"/>
          </p:nvPr>
        </p:nvSpPr>
        <p:spPr/>
        <p:txBody>
          <a:bodyPr/>
          <a:lstStyle/>
          <a:p>
            <a:fld id="{52D6E5E2-D759-4C94-B867-E1DB7243F586}" type="datetimeFigureOut">
              <a:rPr lang="fr-FR" smtClean="0"/>
              <a:t>24/12/2025</a:t>
            </a:fld>
            <a:endParaRPr lang="fr-FR"/>
          </a:p>
        </p:txBody>
      </p:sp>
      <p:sp>
        <p:nvSpPr>
          <p:cNvPr id="5" name="Espace réservé du pied de page 4">
            <a:extLst>
              <a:ext uri="{FF2B5EF4-FFF2-40B4-BE49-F238E27FC236}">
                <a16:creationId xmlns:a16="http://schemas.microsoft.com/office/drawing/2014/main" id="{5C4A80E3-6154-B732-635F-AE1CA8E86E7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BED919A-EEB3-F72B-4871-6D6975A72977}"/>
              </a:ext>
            </a:extLst>
          </p:cNvPr>
          <p:cNvSpPr>
            <a:spLocks noGrp="1"/>
          </p:cNvSpPr>
          <p:nvPr>
            <p:ph type="sldNum" sz="quarter" idx="12"/>
          </p:nvPr>
        </p:nvSpPr>
        <p:spPr/>
        <p:txBody>
          <a:bodyPr/>
          <a:lstStyle/>
          <a:p>
            <a:fld id="{DDB88124-5DA8-453F-A428-2255CC3BD3CE}" type="slidenum">
              <a:rPr lang="fr-FR" smtClean="0"/>
              <a:t>‹N°›</a:t>
            </a:fld>
            <a:endParaRPr lang="fr-FR"/>
          </a:p>
        </p:txBody>
      </p:sp>
    </p:spTree>
    <p:extLst>
      <p:ext uri="{BB962C8B-B14F-4D97-AF65-F5344CB8AC3E}">
        <p14:creationId xmlns:p14="http://schemas.microsoft.com/office/powerpoint/2010/main" val="2203547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A13363C-6E7F-D9AF-BB8E-40F2727840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8D9602D-E4B2-1B69-FF73-D9534A755F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988BC53-CA42-E8D0-BABE-901267DA3C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D6E5E2-D759-4C94-B867-E1DB7243F586}" type="datetimeFigureOut">
              <a:rPr lang="fr-FR" smtClean="0"/>
              <a:t>24/12/2025</a:t>
            </a:fld>
            <a:endParaRPr lang="fr-FR"/>
          </a:p>
        </p:txBody>
      </p:sp>
      <p:sp>
        <p:nvSpPr>
          <p:cNvPr id="5" name="Espace réservé du pied de page 4">
            <a:extLst>
              <a:ext uri="{FF2B5EF4-FFF2-40B4-BE49-F238E27FC236}">
                <a16:creationId xmlns:a16="http://schemas.microsoft.com/office/drawing/2014/main" id="{5F4433F9-15BE-5B9B-FF2D-1D84A3EA0A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4C011E2D-1994-0DAD-A6BF-619C9D70D2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B88124-5DA8-453F-A428-2255CC3BD3CE}" type="slidenum">
              <a:rPr lang="fr-FR" smtClean="0"/>
              <a:t>‹N°›</a:t>
            </a:fld>
            <a:endParaRPr lang="fr-FR"/>
          </a:p>
        </p:txBody>
      </p:sp>
    </p:spTree>
    <p:extLst>
      <p:ext uri="{BB962C8B-B14F-4D97-AF65-F5344CB8AC3E}">
        <p14:creationId xmlns:p14="http://schemas.microsoft.com/office/powerpoint/2010/main" val="2198920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slide" Target="slide4.xml"/><Relationship Id="rId10" Type="http://schemas.openxmlformats.org/officeDocument/2006/relationships/slide" Target="slide12.xml"/><Relationship Id="rId4" Type="http://schemas.openxmlformats.org/officeDocument/2006/relationships/image" Target="../media/image3.png"/><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0.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0.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0.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5.png"/><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4.jpe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25 technologies that have changed the world - CNET">
            <a:extLst>
              <a:ext uri="{FF2B5EF4-FFF2-40B4-BE49-F238E27FC236}">
                <a16:creationId xmlns:a16="http://schemas.microsoft.com/office/drawing/2014/main" id="{41FBEEF8-90C7-C186-481A-3F049E8A41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813" b="7813"/>
          <a:stretch>
            <a:fillRect/>
          </a:stretch>
        </p:blipFill>
        <p:spPr bwMode="auto">
          <a:xfrm>
            <a:off x="0" y="0"/>
            <a:ext cx="1549908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B6CD5383-8FBF-BDAB-F269-1AB996F18F0D}"/>
              </a:ext>
            </a:extLst>
          </p:cNvPr>
          <p:cNvSpPr txBox="1"/>
          <p:nvPr/>
        </p:nvSpPr>
        <p:spPr>
          <a:xfrm>
            <a:off x="750570" y="320040"/>
            <a:ext cx="12713970" cy="1938992"/>
          </a:xfrm>
          <a:prstGeom prst="rect">
            <a:avLst/>
          </a:prstGeom>
          <a:noFill/>
        </p:spPr>
        <p:txBody>
          <a:bodyPr wrap="square" rtlCol="0">
            <a:spAutoFit/>
          </a:bodyPr>
          <a:lstStyle/>
          <a:p>
            <a:r>
              <a:rPr lang="en-GB" sz="12000" noProof="0" dirty="0">
                <a:solidFill>
                  <a:schemeClr val="accent4">
                    <a:lumMod val="20000"/>
                    <a:lumOff val="80000"/>
                  </a:schemeClr>
                </a:solidFill>
                <a:latin typeface="Segoe UI Black" panose="020B0A02040204020203" pitchFamily="34" charset="0"/>
                <a:ea typeface="Segoe UI Black" panose="020B0A02040204020203" pitchFamily="34" charset="0"/>
              </a:rPr>
              <a:t>TIC PROJECT </a:t>
            </a:r>
          </a:p>
        </p:txBody>
      </p:sp>
      <p:sp>
        <p:nvSpPr>
          <p:cNvPr id="5" name="Rectangle 4">
            <a:extLst>
              <a:ext uri="{FF2B5EF4-FFF2-40B4-BE49-F238E27FC236}">
                <a16:creationId xmlns:a16="http://schemas.microsoft.com/office/drawing/2014/main" id="{4120A10D-9727-A511-F889-6782903AAECF}"/>
              </a:ext>
            </a:extLst>
          </p:cNvPr>
          <p:cNvSpPr/>
          <p:nvPr/>
        </p:nvSpPr>
        <p:spPr>
          <a:xfrm flipH="1">
            <a:off x="15832667" y="-80010"/>
            <a:ext cx="220980" cy="6938010"/>
          </a:xfrm>
          <a:prstGeom prst="rect">
            <a:avLst/>
          </a:prstGeom>
          <a:solidFill>
            <a:schemeClr val="bg2">
              <a:lumMod val="90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ZoneTexte 5">
            <a:extLst>
              <a:ext uri="{FF2B5EF4-FFF2-40B4-BE49-F238E27FC236}">
                <a16:creationId xmlns:a16="http://schemas.microsoft.com/office/drawing/2014/main" id="{18DBF736-09F4-80A1-D6B2-222C446E2315}"/>
              </a:ext>
            </a:extLst>
          </p:cNvPr>
          <p:cNvSpPr txBox="1"/>
          <p:nvPr/>
        </p:nvSpPr>
        <p:spPr>
          <a:xfrm>
            <a:off x="15832667" y="1289536"/>
            <a:ext cx="2717801" cy="1569660"/>
          </a:xfrm>
          <a:prstGeom prst="rect">
            <a:avLst/>
          </a:prstGeom>
          <a:noFill/>
        </p:spPr>
        <p:txBody>
          <a:bodyPr wrap="square" rtlCol="0">
            <a:spAutoFit/>
          </a:bodyPr>
          <a:lstStyle/>
          <a:p>
            <a:r>
              <a:rPr lang="en-GB" sz="1200" noProof="0" dirty="0">
                <a:solidFill>
                  <a:schemeClr val="bg1">
                    <a:lumMod val="95000"/>
                  </a:schemeClr>
                </a:solidFill>
                <a:latin typeface="Book Antiqua" panose="02040602050305030304" pitchFamily="18" charset="0"/>
              </a:rPr>
              <a:t> By Group 4 :</a:t>
            </a:r>
          </a:p>
          <a:p>
            <a:pPr marL="285750" indent="-285750">
              <a:buFont typeface="Arial" panose="020B0604020202020204" pitchFamily="34" charset="0"/>
              <a:buChar char="•"/>
            </a:pPr>
            <a:r>
              <a:rPr lang="en-GB" sz="1200" noProof="0" dirty="0">
                <a:solidFill>
                  <a:schemeClr val="bg1">
                    <a:lumMod val="95000"/>
                  </a:schemeClr>
                </a:solidFill>
                <a:latin typeface="Book Antiqua" panose="02040602050305030304" pitchFamily="18" charset="0"/>
              </a:rPr>
              <a:t> </a:t>
            </a:r>
            <a:r>
              <a:rPr lang="en-GB" sz="1200" noProof="0" dirty="0" err="1">
                <a:solidFill>
                  <a:schemeClr val="bg1">
                    <a:lumMod val="95000"/>
                  </a:schemeClr>
                </a:solidFill>
                <a:latin typeface="Book Antiqua" panose="02040602050305030304" pitchFamily="18" charset="0"/>
              </a:rPr>
              <a:t>Bouhadi</a:t>
            </a:r>
            <a:r>
              <a:rPr lang="en-GB" sz="1200" noProof="0" dirty="0">
                <a:solidFill>
                  <a:schemeClr val="bg1">
                    <a:lumMod val="95000"/>
                  </a:schemeClr>
                </a:solidFill>
                <a:latin typeface="Book Antiqua" panose="02040602050305030304" pitchFamily="18" charset="0"/>
              </a:rPr>
              <a:t> Maroua</a:t>
            </a:r>
          </a:p>
          <a:p>
            <a:pPr marL="285750" indent="-285750">
              <a:buFont typeface="Arial" panose="020B0604020202020204" pitchFamily="34" charset="0"/>
              <a:buChar char="•"/>
            </a:pPr>
            <a:r>
              <a:rPr lang="en-GB" sz="1200" noProof="0" dirty="0" err="1">
                <a:solidFill>
                  <a:schemeClr val="bg1">
                    <a:lumMod val="95000"/>
                  </a:schemeClr>
                </a:solidFill>
                <a:latin typeface="Book Antiqua" panose="02040602050305030304" pitchFamily="18" charset="0"/>
              </a:rPr>
              <a:t>Latoui</a:t>
            </a:r>
            <a:r>
              <a:rPr lang="en-GB" sz="1200" noProof="0" dirty="0">
                <a:solidFill>
                  <a:schemeClr val="bg1">
                    <a:lumMod val="95000"/>
                  </a:schemeClr>
                </a:solidFill>
                <a:latin typeface="Book Antiqua" panose="02040602050305030304" pitchFamily="18" charset="0"/>
              </a:rPr>
              <a:t> Khadidja</a:t>
            </a:r>
          </a:p>
          <a:p>
            <a:pPr marL="285750" indent="-285750">
              <a:buFont typeface="Arial" panose="020B0604020202020204" pitchFamily="34" charset="0"/>
              <a:buChar char="•"/>
            </a:pPr>
            <a:r>
              <a:rPr lang="en-GB" sz="1200" noProof="0" dirty="0">
                <a:solidFill>
                  <a:schemeClr val="bg1">
                    <a:lumMod val="95000"/>
                  </a:schemeClr>
                </a:solidFill>
                <a:latin typeface="Book Antiqua" panose="02040602050305030304" pitchFamily="18" charset="0"/>
              </a:rPr>
              <a:t>Guendouz Israa</a:t>
            </a:r>
          </a:p>
          <a:p>
            <a:pPr marL="285750" indent="-285750">
              <a:buFont typeface="Arial" panose="020B0604020202020204" pitchFamily="34" charset="0"/>
              <a:buChar char="•"/>
            </a:pPr>
            <a:r>
              <a:rPr lang="en-GB" sz="1200" noProof="0" dirty="0" err="1">
                <a:solidFill>
                  <a:schemeClr val="bg1">
                    <a:lumMod val="95000"/>
                  </a:schemeClr>
                </a:solidFill>
                <a:latin typeface="Book Antiqua" panose="02040602050305030304" pitchFamily="18" charset="0"/>
              </a:rPr>
              <a:t>Benacer</a:t>
            </a:r>
            <a:r>
              <a:rPr lang="en-GB" sz="1200" noProof="0" dirty="0">
                <a:solidFill>
                  <a:schemeClr val="bg1">
                    <a:lumMod val="95000"/>
                  </a:schemeClr>
                </a:solidFill>
                <a:latin typeface="Book Antiqua" panose="02040602050305030304" pitchFamily="18" charset="0"/>
              </a:rPr>
              <a:t> Nada</a:t>
            </a:r>
          </a:p>
          <a:p>
            <a:pPr marL="285750" indent="-285750">
              <a:buFont typeface="Arial" panose="020B0604020202020204" pitchFamily="34" charset="0"/>
              <a:buChar char="•"/>
            </a:pPr>
            <a:endParaRPr lang="en-GB" sz="1200" noProof="0" dirty="0">
              <a:solidFill>
                <a:schemeClr val="bg1">
                  <a:lumMod val="95000"/>
                </a:schemeClr>
              </a:solidFill>
              <a:latin typeface="Book Antiqua" panose="02040602050305030304" pitchFamily="18" charset="0"/>
            </a:endParaRPr>
          </a:p>
          <a:p>
            <a:r>
              <a:rPr lang="en-GB" sz="1200" noProof="0" dirty="0">
                <a:solidFill>
                  <a:schemeClr val="bg1">
                    <a:lumMod val="95000"/>
                  </a:schemeClr>
                </a:solidFill>
                <a:latin typeface="Book Antiqua" panose="02040602050305030304" pitchFamily="18" charset="0"/>
              </a:rPr>
              <a:t>SIGL 2025-2026</a:t>
            </a:r>
          </a:p>
          <a:p>
            <a:r>
              <a:rPr lang="en-GB" sz="1200" noProof="0" dirty="0">
                <a:solidFill>
                  <a:schemeClr val="bg1">
                    <a:lumMod val="95000"/>
                  </a:schemeClr>
                </a:solidFill>
                <a:latin typeface="Book Antiqua" panose="02040602050305030304" pitchFamily="18" charset="0"/>
              </a:rPr>
              <a:t>Final project in TIC</a:t>
            </a:r>
          </a:p>
        </p:txBody>
      </p:sp>
    </p:spTree>
    <p:extLst>
      <p:ext uri="{BB962C8B-B14F-4D97-AF65-F5344CB8AC3E}">
        <p14:creationId xmlns:p14="http://schemas.microsoft.com/office/powerpoint/2010/main" val="1830281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630E6-F809-14F4-91D8-2D95B812CE86}"/>
            </a:ext>
          </a:extLst>
        </p:cNvPr>
        <p:cNvGrpSpPr/>
        <p:nvPr/>
      </p:nvGrpSpPr>
      <p:grpSpPr>
        <a:xfrm>
          <a:off x="0" y="0"/>
          <a:ext cx="0" cy="0"/>
          <a:chOff x="0" y="0"/>
          <a:chExt cx="0" cy="0"/>
        </a:xfrm>
      </p:grpSpPr>
      <p:pic>
        <p:nvPicPr>
          <p:cNvPr id="1026" name="Picture 2" descr="25 technologies that have changed the world - CNET">
            <a:extLst>
              <a:ext uri="{FF2B5EF4-FFF2-40B4-BE49-F238E27FC236}">
                <a16:creationId xmlns:a16="http://schemas.microsoft.com/office/drawing/2014/main" id="{486B71FE-064E-D75A-2F53-388FC6BFFF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813" b="7813"/>
          <a:stretch>
            <a:fillRect/>
          </a:stretch>
        </p:blipFill>
        <p:spPr bwMode="auto">
          <a:xfrm>
            <a:off x="-4305300" y="-40005"/>
            <a:ext cx="16497300" cy="693801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C36AC16C-FDC4-AD4A-58DF-05AB345C4EA0}"/>
              </a:ext>
            </a:extLst>
          </p:cNvPr>
          <p:cNvSpPr txBox="1"/>
          <p:nvPr/>
        </p:nvSpPr>
        <p:spPr>
          <a:xfrm>
            <a:off x="8204200" y="139700"/>
            <a:ext cx="2560955" cy="477054"/>
          </a:xfrm>
          <a:prstGeom prst="rect">
            <a:avLst/>
          </a:prstGeom>
          <a:noFill/>
        </p:spPr>
        <p:txBody>
          <a:bodyPr wrap="square" rtlCol="0">
            <a:spAutoFit/>
          </a:bodyPr>
          <a:lstStyle/>
          <a:p>
            <a:r>
              <a:rPr lang="en-GB" sz="2500" noProof="0" dirty="0">
                <a:solidFill>
                  <a:schemeClr val="accent4">
                    <a:lumMod val="20000"/>
                    <a:lumOff val="80000"/>
                  </a:schemeClr>
                </a:solidFill>
                <a:latin typeface="Segoe UI Black" panose="020B0A02040204020203" pitchFamily="34" charset="0"/>
                <a:ea typeface="Segoe UI Black" panose="020B0A02040204020203" pitchFamily="34" charset="0"/>
              </a:rPr>
              <a:t>TIC PROJECT </a:t>
            </a:r>
          </a:p>
        </p:txBody>
      </p:sp>
      <p:sp>
        <p:nvSpPr>
          <p:cNvPr id="4" name="ZoneTexte 3">
            <a:extLst>
              <a:ext uri="{FF2B5EF4-FFF2-40B4-BE49-F238E27FC236}">
                <a16:creationId xmlns:a16="http://schemas.microsoft.com/office/drawing/2014/main" id="{1424DF3B-DEDC-2BFF-442D-DFB21991E17B}"/>
              </a:ext>
            </a:extLst>
          </p:cNvPr>
          <p:cNvSpPr txBox="1"/>
          <p:nvPr/>
        </p:nvSpPr>
        <p:spPr>
          <a:xfrm>
            <a:off x="7734299" y="1117600"/>
            <a:ext cx="3500755" cy="3785652"/>
          </a:xfrm>
          <a:prstGeom prst="rect">
            <a:avLst/>
          </a:prstGeom>
          <a:noFill/>
        </p:spPr>
        <p:txBody>
          <a:bodyPr wrap="square" rtlCol="0">
            <a:spAutoFit/>
          </a:bodyPr>
          <a:lstStyle/>
          <a:p>
            <a:r>
              <a:rPr lang="en-GB" sz="3000" noProof="0" dirty="0">
                <a:solidFill>
                  <a:schemeClr val="bg1">
                    <a:lumMod val="95000"/>
                  </a:schemeClr>
                </a:solidFill>
                <a:latin typeface="Book Antiqua" panose="02040602050305030304" pitchFamily="18" charset="0"/>
              </a:rPr>
              <a:t> By Group 4 :</a:t>
            </a:r>
          </a:p>
          <a:p>
            <a:pPr marL="285750" indent="-285750">
              <a:buFont typeface="Arial" panose="020B0604020202020204" pitchFamily="34" charset="0"/>
              <a:buChar char="•"/>
            </a:pPr>
            <a:r>
              <a:rPr lang="en-GB" sz="3000" noProof="0" dirty="0">
                <a:solidFill>
                  <a:schemeClr val="bg1">
                    <a:lumMod val="95000"/>
                  </a:schemeClr>
                </a:solidFill>
                <a:latin typeface="Book Antiqua" panose="02040602050305030304" pitchFamily="18" charset="0"/>
              </a:rPr>
              <a:t> </a:t>
            </a:r>
            <a:r>
              <a:rPr lang="en-GB" sz="3000" noProof="0" dirty="0" err="1">
                <a:solidFill>
                  <a:schemeClr val="bg1">
                    <a:lumMod val="95000"/>
                  </a:schemeClr>
                </a:solidFill>
                <a:latin typeface="Book Antiqua" panose="02040602050305030304" pitchFamily="18" charset="0"/>
              </a:rPr>
              <a:t>Bouhadi</a:t>
            </a:r>
            <a:r>
              <a:rPr lang="en-GB" sz="3000" noProof="0" dirty="0">
                <a:solidFill>
                  <a:schemeClr val="bg1">
                    <a:lumMod val="95000"/>
                  </a:schemeClr>
                </a:solidFill>
                <a:latin typeface="Book Antiqua" panose="02040602050305030304" pitchFamily="18" charset="0"/>
              </a:rPr>
              <a:t> Maroua</a:t>
            </a:r>
          </a:p>
          <a:p>
            <a:pPr marL="285750" indent="-285750">
              <a:buFont typeface="Arial" panose="020B0604020202020204" pitchFamily="34" charset="0"/>
              <a:buChar char="•"/>
            </a:pPr>
            <a:r>
              <a:rPr lang="en-GB" sz="3000" noProof="0" dirty="0" err="1">
                <a:solidFill>
                  <a:schemeClr val="bg1">
                    <a:lumMod val="95000"/>
                  </a:schemeClr>
                </a:solidFill>
                <a:latin typeface="Book Antiqua" panose="02040602050305030304" pitchFamily="18" charset="0"/>
              </a:rPr>
              <a:t>Latoui</a:t>
            </a:r>
            <a:r>
              <a:rPr lang="en-GB" sz="3000" noProof="0" dirty="0">
                <a:solidFill>
                  <a:schemeClr val="bg1">
                    <a:lumMod val="95000"/>
                  </a:schemeClr>
                </a:solidFill>
                <a:latin typeface="Book Antiqua" panose="02040602050305030304" pitchFamily="18" charset="0"/>
              </a:rPr>
              <a:t> Khadidja</a:t>
            </a:r>
          </a:p>
          <a:p>
            <a:pPr marL="285750" indent="-285750">
              <a:buFont typeface="Arial" panose="020B0604020202020204" pitchFamily="34" charset="0"/>
              <a:buChar char="•"/>
            </a:pPr>
            <a:r>
              <a:rPr lang="en-GB" sz="3000" noProof="0" dirty="0">
                <a:solidFill>
                  <a:schemeClr val="bg1">
                    <a:lumMod val="95000"/>
                  </a:schemeClr>
                </a:solidFill>
                <a:latin typeface="Book Antiqua" panose="02040602050305030304" pitchFamily="18" charset="0"/>
              </a:rPr>
              <a:t>Guendouz Israa</a:t>
            </a:r>
          </a:p>
          <a:p>
            <a:pPr marL="285750" indent="-285750">
              <a:buFont typeface="Arial" panose="020B0604020202020204" pitchFamily="34" charset="0"/>
              <a:buChar char="•"/>
            </a:pPr>
            <a:r>
              <a:rPr lang="en-GB" sz="3000" noProof="0" dirty="0" err="1">
                <a:solidFill>
                  <a:schemeClr val="bg1">
                    <a:lumMod val="95000"/>
                  </a:schemeClr>
                </a:solidFill>
                <a:latin typeface="Book Antiqua" panose="02040602050305030304" pitchFamily="18" charset="0"/>
              </a:rPr>
              <a:t>Benacer</a:t>
            </a:r>
            <a:r>
              <a:rPr lang="en-GB" sz="3000" noProof="0" dirty="0">
                <a:solidFill>
                  <a:schemeClr val="bg1">
                    <a:lumMod val="95000"/>
                  </a:schemeClr>
                </a:solidFill>
                <a:latin typeface="Book Antiqua" panose="02040602050305030304" pitchFamily="18" charset="0"/>
              </a:rPr>
              <a:t> Nada</a:t>
            </a:r>
          </a:p>
          <a:p>
            <a:pPr marL="285750" indent="-285750">
              <a:buFont typeface="Arial" panose="020B0604020202020204" pitchFamily="34" charset="0"/>
              <a:buChar char="•"/>
            </a:pPr>
            <a:endParaRPr lang="en-GB" sz="3000" noProof="0" dirty="0">
              <a:solidFill>
                <a:schemeClr val="bg1">
                  <a:lumMod val="95000"/>
                </a:schemeClr>
              </a:solidFill>
              <a:latin typeface="Book Antiqua" panose="02040602050305030304" pitchFamily="18" charset="0"/>
            </a:endParaRPr>
          </a:p>
          <a:p>
            <a:r>
              <a:rPr lang="en-GB" sz="3000" noProof="0" dirty="0">
                <a:solidFill>
                  <a:schemeClr val="bg1">
                    <a:lumMod val="95000"/>
                  </a:schemeClr>
                </a:solidFill>
                <a:latin typeface="Book Antiqua" panose="02040602050305030304" pitchFamily="18" charset="0"/>
              </a:rPr>
              <a:t>SIGL 2025-2026</a:t>
            </a:r>
          </a:p>
          <a:p>
            <a:r>
              <a:rPr lang="en-GB" sz="3000" noProof="0" dirty="0">
                <a:solidFill>
                  <a:schemeClr val="bg1">
                    <a:lumMod val="95000"/>
                  </a:schemeClr>
                </a:solidFill>
                <a:latin typeface="Book Antiqua" panose="02040602050305030304" pitchFamily="18" charset="0"/>
              </a:rPr>
              <a:t>Final project in TIC</a:t>
            </a:r>
          </a:p>
        </p:txBody>
      </p:sp>
    </p:spTree>
    <p:extLst>
      <p:ext uri="{BB962C8B-B14F-4D97-AF65-F5344CB8AC3E}">
        <p14:creationId xmlns:p14="http://schemas.microsoft.com/office/powerpoint/2010/main" val="24120043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52000" b="-52000"/>
          </a:stretch>
        </a:blipFill>
        <a:effectLst/>
      </p:bgPr>
    </p:bg>
    <p:spTree>
      <p:nvGrpSpPr>
        <p:cNvPr id="1" name="">
          <a:extLst>
            <a:ext uri="{FF2B5EF4-FFF2-40B4-BE49-F238E27FC236}">
              <a16:creationId xmlns:a16="http://schemas.microsoft.com/office/drawing/2014/main" id="{EA3FB1BA-EE14-76F4-38A6-524B09713959}"/>
            </a:ext>
          </a:extLst>
        </p:cNvPr>
        <p:cNvGrpSpPr/>
        <p:nvPr/>
      </p:nvGrpSpPr>
      <p:grpSpPr>
        <a:xfrm>
          <a:off x="0" y="0"/>
          <a:ext cx="0" cy="0"/>
          <a:chOff x="0" y="0"/>
          <a:chExt cx="0" cy="0"/>
        </a:xfrm>
      </p:grpSpPr>
      <p:pic>
        <p:nvPicPr>
          <p:cNvPr id="1026" name="Picture 2" descr="25 technologies that have changed the world - CNET">
            <a:extLst>
              <a:ext uri="{FF2B5EF4-FFF2-40B4-BE49-F238E27FC236}">
                <a16:creationId xmlns:a16="http://schemas.microsoft.com/office/drawing/2014/main" id="{C93A07D4-610D-1AC8-41A9-5C3DCCA80D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813" b="7813"/>
          <a:stretch>
            <a:fillRect/>
          </a:stretch>
        </p:blipFill>
        <p:spPr bwMode="auto">
          <a:xfrm>
            <a:off x="0" y="34769"/>
            <a:ext cx="12192000" cy="693801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4D46B18B-E537-44EA-5505-1B3E60827973}"/>
              </a:ext>
            </a:extLst>
          </p:cNvPr>
          <p:cNvSpPr txBox="1"/>
          <p:nvPr/>
        </p:nvSpPr>
        <p:spPr>
          <a:xfrm>
            <a:off x="0" y="-25754"/>
            <a:ext cx="3671248" cy="477054"/>
          </a:xfrm>
          <a:prstGeom prst="rect">
            <a:avLst/>
          </a:prstGeom>
          <a:noFill/>
        </p:spPr>
        <p:txBody>
          <a:bodyPr wrap="square" rtlCol="0">
            <a:spAutoFit/>
          </a:bodyPr>
          <a:lstStyle/>
          <a:p>
            <a:r>
              <a:rPr lang="en-GB" sz="2500" noProof="0" dirty="0">
                <a:solidFill>
                  <a:schemeClr val="accent4">
                    <a:lumMod val="20000"/>
                    <a:lumOff val="80000"/>
                  </a:schemeClr>
                </a:solidFill>
                <a:latin typeface="Segoe UI Black" panose="020B0A02040204020203" pitchFamily="34" charset="0"/>
                <a:ea typeface="Segoe UI Black" panose="020B0A02040204020203" pitchFamily="34" charset="0"/>
              </a:rPr>
              <a:t>TIC PROJECT plan</a:t>
            </a:r>
          </a:p>
        </p:txBody>
      </p:sp>
      <p:sp>
        <p:nvSpPr>
          <p:cNvPr id="4" name="ZoneTexte 3">
            <a:extLst>
              <a:ext uri="{FF2B5EF4-FFF2-40B4-BE49-F238E27FC236}">
                <a16:creationId xmlns:a16="http://schemas.microsoft.com/office/drawing/2014/main" id="{514D73C0-713F-EB29-72E2-C6FD8FC73A9E}"/>
              </a:ext>
            </a:extLst>
          </p:cNvPr>
          <p:cNvSpPr txBox="1"/>
          <p:nvPr/>
        </p:nvSpPr>
        <p:spPr>
          <a:xfrm>
            <a:off x="5480197" y="8411535"/>
            <a:ext cx="3500755" cy="1569660"/>
          </a:xfrm>
          <a:prstGeom prst="rect">
            <a:avLst/>
          </a:prstGeom>
          <a:noFill/>
        </p:spPr>
        <p:txBody>
          <a:bodyPr wrap="square" rtlCol="0">
            <a:spAutoFit/>
          </a:bodyPr>
          <a:lstStyle/>
          <a:p>
            <a:r>
              <a:rPr lang="en-GB" sz="1200" noProof="0" dirty="0">
                <a:solidFill>
                  <a:schemeClr val="bg1">
                    <a:lumMod val="95000"/>
                  </a:schemeClr>
                </a:solidFill>
                <a:latin typeface="Book Antiqua" panose="02040602050305030304" pitchFamily="18" charset="0"/>
              </a:rPr>
              <a:t> By Group 4 :</a:t>
            </a:r>
          </a:p>
          <a:p>
            <a:pPr marL="285750" indent="-285750">
              <a:buFont typeface="Arial" panose="020B0604020202020204" pitchFamily="34" charset="0"/>
              <a:buChar char="•"/>
            </a:pPr>
            <a:r>
              <a:rPr lang="en-GB" sz="1200" noProof="0" dirty="0">
                <a:solidFill>
                  <a:schemeClr val="bg1">
                    <a:lumMod val="95000"/>
                  </a:schemeClr>
                </a:solidFill>
                <a:latin typeface="Book Antiqua" panose="02040602050305030304" pitchFamily="18" charset="0"/>
              </a:rPr>
              <a:t> </a:t>
            </a:r>
            <a:r>
              <a:rPr lang="en-GB" sz="1200" noProof="0" dirty="0" err="1">
                <a:solidFill>
                  <a:schemeClr val="bg1">
                    <a:lumMod val="95000"/>
                  </a:schemeClr>
                </a:solidFill>
                <a:latin typeface="Book Antiqua" panose="02040602050305030304" pitchFamily="18" charset="0"/>
              </a:rPr>
              <a:t>Bouhadi</a:t>
            </a:r>
            <a:r>
              <a:rPr lang="en-GB" sz="1200" noProof="0" dirty="0">
                <a:solidFill>
                  <a:schemeClr val="bg1">
                    <a:lumMod val="95000"/>
                  </a:schemeClr>
                </a:solidFill>
                <a:latin typeface="Book Antiqua" panose="02040602050305030304" pitchFamily="18" charset="0"/>
              </a:rPr>
              <a:t> Maroua</a:t>
            </a:r>
          </a:p>
          <a:p>
            <a:pPr marL="285750" indent="-285750">
              <a:buFont typeface="Arial" panose="020B0604020202020204" pitchFamily="34" charset="0"/>
              <a:buChar char="•"/>
            </a:pPr>
            <a:r>
              <a:rPr lang="en-GB" sz="1200" noProof="0" dirty="0" err="1">
                <a:solidFill>
                  <a:schemeClr val="bg1">
                    <a:lumMod val="95000"/>
                  </a:schemeClr>
                </a:solidFill>
                <a:latin typeface="Book Antiqua" panose="02040602050305030304" pitchFamily="18" charset="0"/>
              </a:rPr>
              <a:t>Latoui</a:t>
            </a:r>
            <a:r>
              <a:rPr lang="en-GB" sz="1200" noProof="0" dirty="0">
                <a:solidFill>
                  <a:schemeClr val="bg1">
                    <a:lumMod val="95000"/>
                  </a:schemeClr>
                </a:solidFill>
                <a:latin typeface="Book Antiqua" panose="02040602050305030304" pitchFamily="18" charset="0"/>
              </a:rPr>
              <a:t> Khadidja</a:t>
            </a:r>
          </a:p>
          <a:p>
            <a:pPr marL="285750" indent="-285750">
              <a:buFont typeface="Arial" panose="020B0604020202020204" pitchFamily="34" charset="0"/>
              <a:buChar char="•"/>
            </a:pPr>
            <a:r>
              <a:rPr lang="en-GB" sz="1200" noProof="0" dirty="0">
                <a:solidFill>
                  <a:schemeClr val="bg1">
                    <a:lumMod val="95000"/>
                  </a:schemeClr>
                </a:solidFill>
                <a:latin typeface="Book Antiqua" panose="02040602050305030304" pitchFamily="18" charset="0"/>
              </a:rPr>
              <a:t>Guendouz Israa</a:t>
            </a:r>
          </a:p>
          <a:p>
            <a:pPr marL="285750" indent="-285750">
              <a:buFont typeface="Arial" panose="020B0604020202020204" pitchFamily="34" charset="0"/>
              <a:buChar char="•"/>
            </a:pPr>
            <a:r>
              <a:rPr lang="en-GB" sz="1200" noProof="0" dirty="0" err="1">
                <a:solidFill>
                  <a:schemeClr val="bg1">
                    <a:lumMod val="95000"/>
                  </a:schemeClr>
                </a:solidFill>
                <a:latin typeface="Book Antiqua" panose="02040602050305030304" pitchFamily="18" charset="0"/>
              </a:rPr>
              <a:t>Benacer</a:t>
            </a:r>
            <a:r>
              <a:rPr lang="en-GB" sz="1200" noProof="0" dirty="0">
                <a:solidFill>
                  <a:schemeClr val="bg1">
                    <a:lumMod val="95000"/>
                  </a:schemeClr>
                </a:solidFill>
                <a:latin typeface="Book Antiqua" panose="02040602050305030304" pitchFamily="18" charset="0"/>
              </a:rPr>
              <a:t> Nada</a:t>
            </a:r>
          </a:p>
          <a:p>
            <a:pPr marL="285750" indent="-285750">
              <a:buFont typeface="Arial" panose="020B0604020202020204" pitchFamily="34" charset="0"/>
              <a:buChar char="•"/>
            </a:pPr>
            <a:endParaRPr lang="en-GB" sz="1200" noProof="0" dirty="0">
              <a:solidFill>
                <a:schemeClr val="bg1">
                  <a:lumMod val="95000"/>
                </a:schemeClr>
              </a:solidFill>
              <a:latin typeface="Book Antiqua" panose="02040602050305030304" pitchFamily="18" charset="0"/>
            </a:endParaRPr>
          </a:p>
          <a:p>
            <a:r>
              <a:rPr lang="en-GB" sz="1200" noProof="0" dirty="0">
                <a:solidFill>
                  <a:schemeClr val="bg1">
                    <a:lumMod val="95000"/>
                  </a:schemeClr>
                </a:solidFill>
                <a:latin typeface="Book Antiqua" panose="02040602050305030304" pitchFamily="18" charset="0"/>
              </a:rPr>
              <a:t>SIGL 2025-2026</a:t>
            </a:r>
          </a:p>
          <a:p>
            <a:r>
              <a:rPr lang="en-GB" sz="1200" noProof="0" dirty="0">
                <a:solidFill>
                  <a:schemeClr val="bg1">
                    <a:lumMod val="95000"/>
                  </a:schemeClr>
                </a:solidFill>
                <a:latin typeface="Book Antiqua" panose="02040602050305030304" pitchFamily="18" charset="0"/>
              </a:rPr>
              <a:t>Final project in TIC</a:t>
            </a:r>
          </a:p>
        </p:txBody>
      </p:sp>
      <p:sp useBgFill="1">
        <p:nvSpPr>
          <p:cNvPr id="8" name="Ellipse 7">
            <a:extLst>
              <a:ext uri="{FF2B5EF4-FFF2-40B4-BE49-F238E27FC236}">
                <a16:creationId xmlns:a16="http://schemas.microsoft.com/office/drawing/2014/main" id="{B2E99D6A-4E34-2C15-C6EA-7B8B975CC79E}"/>
              </a:ext>
            </a:extLst>
          </p:cNvPr>
          <p:cNvSpPr/>
          <p:nvPr/>
        </p:nvSpPr>
        <p:spPr>
          <a:xfrm>
            <a:off x="270166" y="1295222"/>
            <a:ext cx="1843790" cy="1843790"/>
          </a:xfrm>
          <a:prstGeom prst="ellipse">
            <a:avLst/>
          </a:prstGeom>
          <a:ln w="6477">
            <a:solidFill>
              <a:schemeClr val="bg1"/>
            </a:solidFill>
          </a:ln>
          <a:effectLst>
            <a:innerShdw blurRad="3175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useBgFill="1">
        <p:nvSpPr>
          <p:cNvPr id="13" name="Ellipse 12">
            <a:extLst>
              <a:ext uri="{FF2B5EF4-FFF2-40B4-BE49-F238E27FC236}">
                <a16:creationId xmlns:a16="http://schemas.microsoft.com/office/drawing/2014/main" id="{D6ED1C35-DE07-3227-A304-8F1E638C4559}"/>
              </a:ext>
            </a:extLst>
          </p:cNvPr>
          <p:cNvSpPr/>
          <p:nvPr/>
        </p:nvSpPr>
        <p:spPr>
          <a:xfrm>
            <a:off x="8980952" y="3503774"/>
            <a:ext cx="1843790" cy="1843790"/>
          </a:xfrm>
          <a:prstGeom prst="ellipse">
            <a:avLst/>
          </a:prstGeom>
          <a:ln w="6477">
            <a:solidFill>
              <a:schemeClr val="bg1"/>
            </a:solidFill>
          </a:ln>
          <a:effectLst>
            <a:innerShdw blurRad="3175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useBgFill="1">
        <p:nvSpPr>
          <p:cNvPr id="14" name="Ellipse 13">
            <a:extLst>
              <a:ext uri="{FF2B5EF4-FFF2-40B4-BE49-F238E27FC236}">
                <a16:creationId xmlns:a16="http://schemas.microsoft.com/office/drawing/2014/main" id="{58FB5669-9BC0-5DED-647D-4F49EC613DFE}"/>
              </a:ext>
            </a:extLst>
          </p:cNvPr>
          <p:cNvSpPr/>
          <p:nvPr/>
        </p:nvSpPr>
        <p:spPr>
          <a:xfrm>
            <a:off x="5877636" y="1342345"/>
            <a:ext cx="1843790" cy="1843790"/>
          </a:xfrm>
          <a:prstGeom prst="ellipse">
            <a:avLst/>
          </a:prstGeom>
          <a:ln w="6477">
            <a:solidFill>
              <a:schemeClr val="bg1"/>
            </a:solidFill>
          </a:ln>
          <a:effectLst>
            <a:innerShdw blurRad="3175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useBgFill="1">
        <p:nvSpPr>
          <p:cNvPr id="15" name="Ellipse 14">
            <a:extLst>
              <a:ext uri="{FF2B5EF4-FFF2-40B4-BE49-F238E27FC236}">
                <a16:creationId xmlns:a16="http://schemas.microsoft.com/office/drawing/2014/main" id="{97690B97-5FC9-96A0-72AE-17B72C99DA0F}"/>
              </a:ext>
            </a:extLst>
          </p:cNvPr>
          <p:cNvSpPr/>
          <p:nvPr/>
        </p:nvSpPr>
        <p:spPr>
          <a:xfrm>
            <a:off x="3142758" y="3503774"/>
            <a:ext cx="1843790" cy="1843790"/>
          </a:xfrm>
          <a:prstGeom prst="ellipse">
            <a:avLst/>
          </a:prstGeom>
          <a:ln w="6477">
            <a:solidFill>
              <a:schemeClr val="bg1"/>
            </a:solidFill>
          </a:ln>
          <a:effectLst>
            <a:innerShdw blurRad="3175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sez="http://schemas.microsoft.com/office/powerpoint/2016/sectionzoom">
        <mc:Choice Requires="psez">
          <p:graphicFrame>
            <p:nvGraphicFramePr>
              <p:cNvPr id="18" name="Zoom de section 17">
                <a:extLst>
                  <a:ext uri="{FF2B5EF4-FFF2-40B4-BE49-F238E27FC236}">
                    <a16:creationId xmlns:a16="http://schemas.microsoft.com/office/drawing/2014/main" id="{FE7E45EF-10F6-ED48-3ED8-1F69B62592AE}"/>
                  </a:ext>
                </a:extLst>
              </p:cNvPr>
              <p:cNvGraphicFramePr>
                <a:graphicFrameLocks noChangeAspect="1"/>
              </p:cNvGraphicFramePr>
              <p:nvPr>
                <p:extLst>
                  <p:ext uri="{D42A27DB-BD31-4B8C-83A1-F6EECF244321}">
                    <p14:modId xmlns:p14="http://schemas.microsoft.com/office/powerpoint/2010/main" val="885822440"/>
                  </p:ext>
                </p:extLst>
              </p:nvPr>
            </p:nvGraphicFramePr>
            <p:xfrm>
              <a:off x="270166" y="1721033"/>
              <a:ext cx="1931402" cy="1086413"/>
            </p:xfrm>
            <a:graphic>
              <a:graphicData uri="http://schemas.microsoft.com/office/powerpoint/2016/sectionzoom">
                <psez:sectionZm>
                  <psez:sectionZmObj sectionId="{8916EF1F-A364-46AC-8A86-093D237F3E74}">
                    <psez:zmPr id="{18492A33-2F0E-480B-AC22-5F4A601CFAF7}" transitionDur="1000">
                      <p166:blipFill xmlns:p166="http://schemas.microsoft.com/office/powerpoint/2016/6/main">
                        <a:blip r:embed="rId4"/>
                        <a:stretch>
                          <a:fillRect/>
                        </a:stretch>
                      </p166:blipFill>
                      <p166:spPr xmlns:p166="http://schemas.microsoft.com/office/powerpoint/2016/6/main">
                        <a:xfrm>
                          <a:off x="0" y="0"/>
                          <a:ext cx="1931402" cy="1086413"/>
                        </a:xfrm>
                        <a:prstGeom prst="ellipse">
                          <a:avLst/>
                        </a:prstGeom>
                        <a:ln w="3175">
                          <a:solidFill>
                            <a:prstClr val="ltGray"/>
                          </a:solidFill>
                        </a:ln>
                        <a:effectLst>
                          <a:softEdge rad="112500"/>
                        </a:effectLst>
                      </p166:spPr>
                    </psez:zmPr>
                  </psez:sectionZmObj>
                </psez:sectionZm>
              </a:graphicData>
            </a:graphic>
          </p:graphicFrame>
        </mc:Choice>
        <mc:Fallback xmlns="">
          <p:pic>
            <p:nvPicPr>
              <p:cNvPr id="18" name="Zoom de section 17">
                <a:hlinkClick r:id="rId5" action="ppaction://hlinksldjump"/>
                <a:extLst>
                  <a:ext uri="{FF2B5EF4-FFF2-40B4-BE49-F238E27FC236}">
                    <a16:creationId xmlns:a16="http://schemas.microsoft.com/office/drawing/2014/main" id="{FE7E45EF-10F6-ED48-3ED8-1F69B62592AE}"/>
                  </a:ext>
                </a:extLst>
              </p:cNvPr>
              <p:cNvPicPr>
                <a:picLocks noGrp="1" noRot="1" noChangeAspect="1" noMove="1" noResize="1" noEditPoints="1" noAdjustHandles="1" noChangeArrowheads="1" noChangeShapeType="1"/>
              </p:cNvPicPr>
              <p:nvPr/>
            </p:nvPicPr>
            <p:blipFill>
              <a:blip r:embed="rId6"/>
              <a:stretch>
                <a:fillRect/>
              </a:stretch>
            </p:blipFill>
            <p:spPr>
              <a:xfrm>
                <a:off x="270166" y="1721033"/>
                <a:ext cx="1931402" cy="1086413"/>
              </a:xfrm>
              <a:prstGeom prst="ellipse">
                <a:avLst/>
              </a:prstGeom>
              <a:ln w="3175">
                <a:solidFill>
                  <a:prstClr val="ltGray"/>
                </a:solidFill>
              </a:ln>
              <a:effectLst>
                <a:softEdge rad="112500"/>
              </a:effectLst>
            </p:spPr>
          </p:pic>
        </mc:Fallback>
      </mc:AlternateContent>
      <mc:AlternateContent xmlns:mc="http://schemas.openxmlformats.org/markup-compatibility/2006">
        <mc:Choice xmlns:psez="http://schemas.microsoft.com/office/powerpoint/2016/sectionzoom" Requires="psez">
          <p:graphicFrame>
            <p:nvGraphicFramePr>
              <p:cNvPr id="5" name="Zoom de section 4">
                <a:extLst>
                  <a:ext uri="{FF2B5EF4-FFF2-40B4-BE49-F238E27FC236}">
                    <a16:creationId xmlns:a16="http://schemas.microsoft.com/office/drawing/2014/main" id="{9B49BA31-334B-A437-A3D1-79FF729F130B}"/>
                  </a:ext>
                </a:extLst>
              </p:cNvPr>
              <p:cNvGraphicFramePr>
                <a:graphicFrameLocks noChangeAspect="1"/>
              </p:cNvGraphicFramePr>
              <p:nvPr>
                <p:extLst>
                  <p:ext uri="{D42A27DB-BD31-4B8C-83A1-F6EECF244321}">
                    <p14:modId xmlns:p14="http://schemas.microsoft.com/office/powerpoint/2010/main" val="410516338"/>
                  </p:ext>
                </p:extLst>
              </p:nvPr>
            </p:nvGraphicFramePr>
            <p:xfrm>
              <a:off x="3389890" y="4046114"/>
              <a:ext cx="1349526" cy="759109"/>
            </p:xfrm>
            <a:graphic>
              <a:graphicData uri="http://schemas.microsoft.com/office/powerpoint/2016/sectionzoom">
                <psez:sectionZm>
                  <psez:sectionZmObj sectionId="{624FFB7F-433E-4F06-B504-7219EC90B4C6}">
                    <psez:zmPr id="{7A54BF92-7B76-4840-BA8A-0A77D79173D8}" transitionDur="1000">
                      <p166:blipFill xmlns:p166="http://schemas.microsoft.com/office/powerpoint/2016/6/main">
                        <a:blip r:embed="rId7"/>
                        <a:stretch>
                          <a:fillRect/>
                        </a:stretch>
                      </p166:blipFill>
                      <p166:spPr xmlns:p166="http://schemas.microsoft.com/office/powerpoint/2016/6/main">
                        <a:xfrm>
                          <a:off x="0" y="0"/>
                          <a:ext cx="1349526" cy="759109"/>
                        </a:xfrm>
                        <a:prstGeom prst="rect">
                          <a:avLst/>
                        </a:prstGeom>
                      </p166:spPr>
                    </psez:zmPr>
                  </psez:sectionZmObj>
                </psez:sectionZm>
              </a:graphicData>
            </a:graphic>
          </p:graphicFrame>
        </mc:Choice>
        <mc:Fallback>
          <p:pic>
            <p:nvPicPr>
              <p:cNvPr id="5" name="Zoom de section 4">
                <a:hlinkClick r:id="rId8" action="ppaction://hlinksldjump"/>
                <a:extLst>
                  <a:ext uri="{FF2B5EF4-FFF2-40B4-BE49-F238E27FC236}">
                    <a16:creationId xmlns:a16="http://schemas.microsoft.com/office/drawing/2014/main" id="{9B49BA31-334B-A437-A3D1-79FF729F130B}"/>
                  </a:ext>
                </a:extLst>
              </p:cNvPr>
              <p:cNvPicPr>
                <a:picLocks noGrp="1" noRot="1" noChangeAspect="1" noMove="1" noResize="1" noEditPoints="1" noAdjustHandles="1" noChangeArrowheads="1" noChangeShapeType="1"/>
              </p:cNvPicPr>
              <p:nvPr/>
            </p:nvPicPr>
            <p:blipFill>
              <a:blip r:embed="rId7"/>
              <a:stretch>
                <a:fillRect/>
              </a:stretch>
            </p:blipFill>
            <p:spPr>
              <a:xfrm>
                <a:off x="3389890" y="4046114"/>
                <a:ext cx="1349526" cy="759109"/>
              </a:xfrm>
              <a:prstGeom prst="rect">
                <a:avLst/>
              </a:prstGeom>
            </p:spPr>
          </p:pic>
        </mc:Fallback>
      </mc:AlternateContent>
      <mc:AlternateContent xmlns:mc="http://schemas.openxmlformats.org/markup-compatibility/2006">
        <mc:Choice xmlns:psez="http://schemas.microsoft.com/office/powerpoint/2016/sectionzoom" Requires="psez">
          <p:graphicFrame>
            <p:nvGraphicFramePr>
              <p:cNvPr id="7" name="Zoom de section 6">
                <a:extLst>
                  <a:ext uri="{FF2B5EF4-FFF2-40B4-BE49-F238E27FC236}">
                    <a16:creationId xmlns:a16="http://schemas.microsoft.com/office/drawing/2014/main" id="{B4F81E55-3470-6FE0-F70F-74A25903FE5C}"/>
                  </a:ext>
                </a:extLst>
              </p:cNvPr>
              <p:cNvGraphicFramePr>
                <a:graphicFrameLocks noChangeAspect="1"/>
              </p:cNvGraphicFramePr>
              <p:nvPr>
                <p:extLst>
                  <p:ext uri="{D42A27DB-BD31-4B8C-83A1-F6EECF244321}">
                    <p14:modId xmlns:p14="http://schemas.microsoft.com/office/powerpoint/2010/main" val="1113181326"/>
                  </p:ext>
                </p:extLst>
              </p:nvPr>
            </p:nvGraphicFramePr>
            <p:xfrm>
              <a:off x="6258757" y="1960053"/>
              <a:ext cx="1081548" cy="608371"/>
            </p:xfrm>
            <a:graphic>
              <a:graphicData uri="http://schemas.microsoft.com/office/powerpoint/2016/sectionzoom">
                <psez:sectionZm>
                  <psez:sectionZmObj sectionId="{7065957F-352F-4EF6-A0C0-6B339F38B9E1}">
                    <psez:zmPr id="{7A1B86C8-5BB4-4A04-B4B7-D4E5A0FAA137}" transitionDur="1000">
                      <p166:blipFill xmlns:p166="http://schemas.microsoft.com/office/powerpoint/2016/6/main">
                        <a:blip r:embed="rId9"/>
                        <a:stretch>
                          <a:fillRect/>
                        </a:stretch>
                      </p166:blipFill>
                      <p166:spPr xmlns:p166="http://schemas.microsoft.com/office/powerpoint/2016/6/main">
                        <a:xfrm>
                          <a:off x="0" y="0"/>
                          <a:ext cx="1081548" cy="608371"/>
                        </a:xfrm>
                        <a:prstGeom prst="rect">
                          <a:avLst/>
                        </a:prstGeom>
                        <a:ln w="3175">
                          <a:solidFill>
                            <a:prstClr val="ltGray"/>
                          </a:solidFill>
                        </a:ln>
                      </p166:spPr>
                    </psez:zmPr>
                  </psez:sectionZmObj>
                </psez:sectionZm>
              </a:graphicData>
            </a:graphic>
          </p:graphicFrame>
        </mc:Choice>
        <mc:Fallback>
          <p:pic>
            <p:nvPicPr>
              <p:cNvPr id="7" name="Zoom de section 6">
                <a:hlinkClick r:id="rId10" action="ppaction://hlinksldjump"/>
                <a:extLst>
                  <a:ext uri="{FF2B5EF4-FFF2-40B4-BE49-F238E27FC236}">
                    <a16:creationId xmlns:a16="http://schemas.microsoft.com/office/drawing/2014/main" id="{B4F81E55-3470-6FE0-F70F-74A25903FE5C}"/>
                  </a:ext>
                </a:extLst>
              </p:cNvPr>
              <p:cNvPicPr>
                <a:picLocks noGrp="1" noRot="1" noChangeAspect="1" noMove="1" noResize="1" noEditPoints="1" noAdjustHandles="1" noChangeArrowheads="1" noChangeShapeType="1"/>
              </p:cNvPicPr>
              <p:nvPr/>
            </p:nvPicPr>
            <p:blipFill>
              <a:blip r:embed="rId9"/>
              <a:stretch>
                <a:fillRect/>
              </a:stretch>
            </p:blipFill>
            <p:spPr>
              <a:xfrm>
                <a:off x="6258757" y="1960053"/>
                <a:ext cx="1081548" cy="608371"/>
              </a:xfrm>
              <a:prstGeom prst="rect">
                <a:avLst/>
              </a:prstGeom>
              <a:ln w="3175">
                <a:solidFill>
                  <a:prstClr val="ltGray"/>
                </a:solidFill>
              </a:ln>
            </p:spPr>
          </p:pic>
        </mc:Fallback>
      </mc:AlternateContent>
      <p:sp>
        <p:nvSpPr>
          <p:cNvPr id="9" name="ZoneTexte 8">
            <a:extLst>
              <a:ext uri="{FF2B5EF4-FFF2-40B4-BE49-F238E27FC236}">
                <a16:creationId xmlns:a16="http://schemas.microsoft.com/office/drawing/2014/main" id="{8FF24C87-0086-2858-A581-C60E395CB0E8}"/>
              </a:ext>
            </a:extLst>
          </p:cNvPr>
          <p:cNvSpPr txBox="1"/>
          <p:nvPr/>
        </p:nvSpPr>
        <p:spPr>
          <a:xfrm>
            <a:off x="9330814" y="4241002"/>
            <a:ext cx="1366684" cy="369332"/>
          </a:xfrm>
          <a:prstGeom prst="rect">
            <a:avLst/>
          </a:prstGeom>
          <a:noFill/>
        </p:spPr>
        <p:txBody>
          <a:bodyPr wrap="square" rtlCol="0">
            <a:spAutoFit/>
          </a:bodyPr>
          <a:lstStyle/>
          <a:p>
            <a:r>
              <a:rPr lang="en-GB" dirty="0">
                <a:solidFill>
                  <a:schemeClr val="bg1"/>
                </a:solidFill>
              </a:rPr>
              <a:t>conclusion</a:t>
            </a:r>
            <a:endParaRPr lang="fr-FR" dirty="0">
              <a:solidFill>
                <a:schemeClr val="bg1"/>
              </a:solidFill>
            </a:endParaRPr>
          </a:p>
        </p:txBody>
      </p:sp>
    </p:spTree>
    <p:extLst>
      <p:ext uri="{BB962C8B-B14F-4D97-AF65-F5344CB8AC3E}">
        <p14:creationId xmlns:p14="http://schemas.microsoft.com/office/powerpoint/2010/main" val="2272751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181666AB-243C-1894-5CCB-0E8727F18E29}"/>
            </a:ext>
          </a:extLst>
        </p:cNvPr>
        <p:cNvGrpSpPr/>
        <p:nvPr/>
      </p:nvGrpSpPr>
      <p:grpSpPr>
        <a:xfrm>
          <a:off x="0" y="0"/>
          <a:ext cx="0" cy="0"/>
          <a:chOff x="0" y="0"/>
          <a:chExt cx="0" cy="0"/>
        </a:xfrm>
      </p:grpSpPr>
      <p:pic>
        <p:nvPicPr>
          <p:cNvPr id="3076" name="Picture 4" descr="‪Technology background Images - Free Download on Freepik‬‏">
            <a:extLst>
              <a:ext uri="{FF2B5EF4-FFF2-40B4-BE49-F238E27FC236}">
                <a16:creationId xmlns:a16="http://schemas.microsoft.com/office/drawing/2014/main" id="{2FC84FFA-50F1-F553-BA5A-DC19E14E25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736" b="7736"/>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useBgFill="1">
        <p:nvSpPr>
          <p:cNvPr id="3" name="Ellipse 2">
            <a:extLst>
              <a:ext uri="{FF2B5EF4-FFF2-40B4-BE49-F238E27FC236}">
                <a16:creationId xmlns:a16="http://schemas.microsoft.com/office/drawing/2014/main" id="{A87E6436-20F3-A0B1-D14D-86DEA869B6F7}"/>
              </a:ext>
            </a:extLst>
          </p:cNvPr>
          <p:cNvSpPr/>
          <p:nvPr/>
        </p:nvSpPr>
        <p:spPr>
          <a:xfrm>
            <a:off x="-4946753" y="1647668"/>
            <a:ext cx="4586989" cy="4783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Ellipse 5">
            <a:extLst>
              <a:ext uri="{FF2B5EF4-FFF2-40B4-BE49-F238E27FC236}">
                <a16:creationId xmlns:a16="http://schemas.microsoft.com/office/drawing/2014/main" id="{236C9EA9-AD1D-BAF9-F923-9AAA88D59DBF}"/>
              </a:ext>
            </a:extLst>
          </p:cNvPr>
          <p:cNvSpPr/>
          <p:nvPr/>
        </p:nvSpPr>
        <p:spPr>
          <a:xfrm>
            <a:off x="-4678933" y="7132452"/>
            <a:ext cx="7199285" cy="6858000"/>
          </a:xfrm>
          <a:prstGeom prst="ellipse">
            <a:avLst/>
          </a:prstGeom>
          <a:noFill/>
          <a:ln w="317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Ellipse 6">
            <a:extLst>
              <a:ext uri="{FF2B5EF4-FFF2-40B4-BE49-F238E27FC236}">
                <a16:creationId xmlns:a16="http://schemas.microsoft.com/office/drawing/2014/main" id="{BF96CEAF-B922-6553-77F7-4EB580E05748}"/>
              </a:ext>
            </a:extLst>
          </p:cNvPr>
          <p:cNvSpPr/>
          <p:nvPr/>
        </p:nvSpPr>
        <p:spPr>
          <a:xfrm>
            <a:off x="3067362" y="-778243"/>
            <a:ext cx="281066" cy="281066"/>
          </a:xfrm>
          <a:prstGeom prst="ellipse">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Ellipse 7">
            <a:extLst>
              <a:ext uri="{FF2B5EF4-FFF2-40B4-BE49-F238E27FC236}">
                <a16:creationId xmlns:a16="http://schemas.microsoft.com/office/drawing/2014/main" id="{DA67288A-CECD-4F7A-7B3D-3A766ED7A850}"/>
              </a:ext>
            </a:extLst>
          </p:cNvPr>
          <p:cNvSpPr/>
          <p:nvPr/>
        </p:nvSpPr>
        <p:spPr>
          <a:xfrm>
            <a:off x="6469506" y="-555518"/>
            <a:ext cx="281066" cy="281066"/>
          </a:xfrm>
          <a:prstGeom prst="ellipse">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ZoneTexte 8">
            <a:extLst>
              <a:ext uri="{FF2B5EF4-FFF2-40B4-BE49-F238E27FC236}">
                <a16:creationId xmlns:a16="http://schemas.microsoft.com/office/drawing/2014/main" id="{343E6CD3-D249-461A-5A0C-EC86F38D166E}"/>
              </a:ext>
            </a:extLst>
          </p:cNvPr>
          <p:cNvSpPr txBox="1"/>
          <p:nvPr/>
        </p:nvSpPr>
        <p:spPr>
          <a:xfrm>
            <a:off x="9533747" y="8022236"/>
            <a:ext cx="5531370" cy="2246769"/>
          </a:xfrm>
          <a:prstGeom prst="rect">
            <a:avLst/>
          </a:prstGeom>
          <a:noFill/>
        </p:spPr>
        <p:txBody>
          <a:bodyPr wrap="square" rtlCol="0">
            <a:spAutoFit/>
          </a:bodyPr>
          <a:lstStyle/>
          <a:p>
            <a:r>
              <a:rPr lang="en-GB" sz="2000" noProof="0" dirty="0">
                <a:solidFill>
                  <a:schemeClr val="bg1"/>
                </a:solidFill>
                <a:latin typeface="Book Antiqua" panose="02040602050305030304" pitchFamily="18" charset="0"/>
              </a:rPr>
              <a:t>ICT refers to all technologies used to create, process, store, transmit, and retrieve digital information. It combines computing tools and telecommunications systems to improve access to information and enable effective communication across various fields such as education, business, and healthcare.</a:t>
            </a:r>
          </a:p>
        </p:txBody>
      </p:sp>
      <p:sp>
        <p:nvSpPr>
          <p:cNvPr id="10" name="ZoneTexte 9">
            <a:extLst>
              <a:ext uri="{FF2B5EF4-FFF2-40B4-BE49-F238E27FC236}">
                <a16:creationId xmlns:a16="http://schemas.microsoft.com/office/drawing/2014/main" id="{F2B5EAD1-7FC7-4512-F1D3-200F4F212BC9}"/>
              </a:ext>
            </a:extLst>
          </p:cNvPr>
          <p:cNvSpPr txBox="1"/>
          <p:nvPr/>
        </p:nvSpPr>
        <p:spPr>
          <a:xfrm>
            <a:off x="-3342804" y="3289715"/>
            <a:ext cx="2263514" cy="630942"/>
          </a:xfrm>
          <a:prstGeom prst="rect">
            <a:avLst/>
          </a:prstGeom>
          <a:noFill/>
        </p:spPr>
        <p:txBody>
          <a:bodyPr wrap="square" rtlCol="0">
            <a:spAutoFit/>
          </a:bodyPr>
          <a:lstStyle/>
          <a:p>
            <a:r>
              <a:rPr lang="en-GB" sz="3500" noProof="0" dirty="0">
                <a:solidFill>
                  <a:schemeClr val="bg1"/>
                </a:solidFill>
                <a:latin typeface="Book Antiqua" panose="02040602050305030304" pitchFamily="18" charset="0"/>
              </a:rPr>
              <a:t>Definition </a:t>
            </a:r>
          </a:p>
        </p:txBody>
      </p:sp>
      <p:sp>
        <p:nvSpPr>
          <p:cNvPr id="2" name="ZoneTexte 1">
            <a:extLst>
              <a:ext uri="{FF2B5EF4-FFF2-40B4-BE49-F238E27FC236}">
                <a16:creationId xmlns:a16="http://schemas.microsoft.com/office/drawing/2014/main" id="{C530B5B3-A21F-3D0D-3A9F-42C12C74C1A1}"/>
              </a:ext>
            </a:extLst>
          </p:cNvPr>
          <p:cNvSpPr txBox="1"/>
          <p:nvPr/>
        </p:nvSpPr>
        <p:spPr>
          <a:xfrm>
            <a:off x="2938072" y="2386332"/>
            <a:ext cx="7105338" cy="1477328"/>
          </a:xfrm>
          <a:prstGeom prst="rect">
            <a:avLst/>
          </a:prstGeom>
          <a:noFill/>
        </p:spPr>
        <p:txBody>
          <a:bodyPr wrap="square" rtlCol="0">
            <a:spAutoFit/>
          </a:bodyPr>
          <a:lstStyle/>
          <a:p>
            <a:r>
              <a:rPr lang="en-GB" sz="9000" noProof="0" dirty="0">
                <a:solidFill>
                  <a:srgbClr val="FFFFCC"/>
                </a:solidFill>
                <a:latin typeface="Book Antiqua" panose="02040602050305030304" pitchFamily="18" charset="0"/>
              </a:rPr>
              <a:t>introduction</a:t>
            </a:r>
          </a:p>
        </p:txBody>
      </p:sp>
    </p:spTree>
    <p:extLst>
      <p:ext uri="{BB962C8B-B14F-4D97-AF65-F5344CB8AC3E}">
        <p14:creationId xmlns:p14="http://schemas.microsoft.com/office/powerpoint/2010/main" val="2121316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3076" name="Picture 4" descr="‪Technology background Images - Free Download on Freepik‬‏">
            <a:extLst>
              <a:ext uri="{FF2B5EF4-FFF2-40B4-BE49-F238E27FC236}">
                <a16:creationId xmlns:a16="http://schemas.microsoft.com/office/drawing/2014/main" id="{9C8FDDD5-B7C0-CE24-8952-5A7A23B72A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736" b="7736"/>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useBgFill="1">
        <p:nvSpPr>
          <p:cNvPr id="3" name="Ellipse 2">
            <a:extLst>
              <a:ext uri="{FF2B5EF4-FFF2-40B4-BE49-F238E27FC236}">
                <a16:creationId xmlns:a16="http://schemas.microsoft.com/office/drawing/2014/main" id="{8718C24F-6D96-B829-7023-8E66A5D95A8A}"/>
              </a:ext>
            </a:extLst>
          </p:cNvPr>
          <p:cNvSpPr/>
          <p:nvPr/>
        </p:nvSpPr>
        <p:spPr>
          <a:xfrm>
            <a:off x="134913" y="898160"/>
            <a:ext cx="4586989" cy="4783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Ellipse 5">
            <a:extLst>
              <a:ext uri="{FF2B5EF4-FFF2-40B4-BE49-F238E27FC236}">
                <a16:creationId xmlns:a16="http://schemas.microsoft.com/office/drawing/2014/main" id="{74711EC1-1225-D6BD-FEBD-8DDC2424743E}"/>
              </a:ext>
            </a:extLst>
          </p:cNvPr>
          <p:cNvSpPr/>
          <p:nvPr/>
        </p:nvSpPr>
        <p:spPr>
          <a:xfrm>
            <a:off x="-1682905" y="-139285"/>
            <a:ext cx="7199285" cy="6858000"/>
          </a:xfrm>
          <a:prstGeom prst="ellipse">
            <a:avLst/>
          </a:prstGeom>
          <a:noFill/>
          <a:ln w="317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Ellipse 6">
            <a:extLst>
              <a:ext uri="{FF2B5EF4-FFF2-40B4-BE49-F238E27FC236}">
                <a16:creationId xmlns:a16="http://schemas.microsoft.com/office/drawing/2014/main" id="{8D7CCB4F-C141-F91E-B98C-E19AC63E96DB}"/>
              </a:ext>
            </a:extLst>
          </p:cNvPr>
          <p:cNvSpPr/>
          <p:nvPr/>
        </p:nvSpPr>
        <p:spPr>
          <a:xfrm>
            <a:off x="3067362" y="-778243"/>
            <a:ext cx="281066" cy="281066"/>
          </a:xfrm>
          <a:prstGeom prst="ellipse">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Ellipse 7">
            <a:extLst>
              <a:ext uri="{FF2B5EF4-FFF2-40B4-BE49-F238E27FC236}">
                <a16:creationId xmlns:a16="http://schemas.microsoft.com/office/drawing/2014/main" id="{2CED8A87-1030-6278-CF34-FEFE5F3ADAAE}"/>
              </a:ext>
            </a:extLst>
          </p:cNvPr>
          <p:cNvSpPr/>
          <p:nvPr/>
        </p:nvSpPr>
        <p:spPr>
          <a:xfrm>
            <a:off x="5327130" y="2714839"/>
            <a:ext cx="281066" cy="281066"/>
          </a:xfrm>
          <a:prstGeom prst="ellipse">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ZoneTexte 8">
            <a:extLst>
              <a:ext uri="{FF2B5EF4-FFF2-40B4-BE49-F238E27FC236}">
                <a16:creationId xmlns:a16="http://schemas.microsoft.com/office/drawing/2014/main" id="{8C2AE527-112E-4FF1-CF84-BE2E1B11FA40}"/>
              </a:ext>
            </a:extLst>
          </p:cNvPr>
          <p:cNvSpPr txBox="1"/>
          <p:nvPr/>
        </p:nvSpPr>
        <p:spPr>
          <a:xfrm>
            <a:off x="5981078" y="1591455"/>
            <a:ext cx="5531370" cy="2554545"/>
          </a:xfrm>
          <a:prstGeom prst="rect">
            <a:avLst/>
          </a:prstGeom>
          <a:noFill/>
        </p:spPr>
        <p:txBody>
          <a:bodyPr wrap="square" rtlCol="0">
            <a:spAutoFit/>
          </a:bodyPr>
          <a:lstStyle/>
          <a:p>
            <a:r>
              <a:rPr lang="en-GB" sz="2000" noProof="0" dirty="0">
                <a:solidFill>
                  <a:schemeClr val="bg1"/>
                </a:solidFill>
                <a:latin typeface="Book Antiqua" panose="02040602050305030304" pitchFamily="18" charset="0"/>
              </a:rPr>
              <a:t>TIC or </a:t>
            </a:r>
            <a:r>
              <a:rPr lang="en-GB" sz="2000" dirty="0">
                <a:solidFill>
                  <a:schemeClr val="bg1"/>
                </a:solidFill>
                <a:latin typeface="Book Antiqua" panose="02040602050305030304" pitchFamily="18" charset="0"/>
              </a:rPr>
              <a:t>ICT (Information and Communication Technologies) refers </a:t>
            </a:r>
            <a:r>
              <a:rPr lang="en-GB" sz="2000" noProof="0" dirty="0">
                <a:solidFill>
                  <a:schemeClr val="bg1"/>
                </a:solidFill>
                <a:latin typeface="Book Antiqua" panose="02040602050305030304" pitchFamily="18" charset="0"/>
              </a:rPr>
              <a:t>to all technologies used to create, process, store, transmit, and retrieve digital information. It combines computing tools and telecommunications systems to improve access to information and enable effective communication across various fields such as education, business, and healthcare.</a:t>
            </a:r>
          </a:p>
        </p:txBody>
      </p:sp>
      <p:sp>
        <p:nvSpPr>
          <p:cNvPr id="10" name="ZoneTexte 9">
            <a:extLst>
              <a:ext uri="{FF2B5EF4-FFF2-40B4-BE49-F238E27FC236}">
                <a16:creationId xmlns:a16="http://schemas.microsoft.com/office/drawing/2014/main" id="{5B61E1BD-551F-4CD8-79CC-B3FA1C02C217}"/>
              </a:ext>
            </a:extLst>
          </p:cNvPr>
          <p:cNvSpPr txBox="1"/>
          <p:nvPr/>
        </p:nvSpPr>
        <p:spPr>
          <a:xfrm>
            <a:off x="1296650" y="2798058"/>
            <a:ext cx="2263514" cy="630942"/>
          </a:xfrm>
          <a:prstGeom prst="rect">
            <a:avLst/>
          </a:prstGeom>
          <a:noFill/>
        </p:spPr>
        <p:txBody>
          <a:bodyPr wrap="square" rtlCol="0">
            <a:spAutoFit/>
          </a:bodyPr>
          <a:lstStyle/>
          <a:p>
            <a:r>
              <a:rPr lang="en-GB" sz="3500" noProof="0" dirty="0">
                <a:solidFill>
                  <a:schemeClr val="bg1"/>
                </a:solidFill>
                <a:latin typeface="Book Antiqua" panose="02040602050305030304" pitchFamily="18" charset="0"/>
              </a:rPr>
              <a:t>Definition </a:t>
            </a:r>
          </a:p>
        </p:txBody>
      </p:sp>
    </p:spTree>
    <p:extLst>
      <p:ext uri="{BB962C8B-B14F-4D97-AF65-F5344CB8AC3E}">
        <p14:creationId xmlns:p14="http://schemas.microsoft.com/office/powerpoint/2010/main" val="610387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BF4E259D-DA7D-6A3E-D7A4-0DC1ACA83DCA}"/>
            </a:ext>
          </a:extLst>
        </p:cNvPr>
        <p:cNvGrpSpPr/>
        <p:nvPr/>
      </p:nvGrpSpPr>
      <p:grpSpPr>
        <a:xfrm>
          <a:off x="0" y="0"/>
          <a:ext cx="0" cy="0"/>
          <a:chOff x="0" y="0"/>
          <a:chExt cx="0" cy="0"/>
        </a:xfrm>
      </p:grpSpPr>
      <p:pic>
        <p:nvPicPr>
          <p:cNvPr id="3076" name="Picture 4" descr="‪Technology background Images - Free Download on Freepik‬‏">
            <a:extLst>
              <a:ext uri="{FF2B5EF4-FFF2-40B4-BE49-F238E27FC236}">
                <a16:creationId xmlns:a16="http://schemas.microsoft.com/office/drawing/2014/main" id="{DF389A67-497A-14FD-279F-E50A435A13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736" b="7736"/>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useBgFill="1">
        <p:nvSpPr>
          <p:cNvPr id="3" name="Ellipse 2">
            <a:extLst>
              <a:ext uri="{FF2B5EF4-FFF2-40B4-BE49-F238E27FC236}">
                <a16:creationId xmlns:a16="http://schemas.microsoft.com/office/drawing/2014/main" id="{92F320CC-E52E-7DAB-3467-31DA18BE2398}"/>
              </a:ext>
            </a:extLst>
          </p:cNvPr>
          <p:cNvSpPr/>
          <p:nvPr/>
        </p:nvSpPr>
        <p:spPr>
          <a:xfrm>
            <a:off x="134913" y="898160"/>
            <a:ext cx="4586989" cy="4783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Ellipse 5">
            <a:extLst>
              <a:ext uri="{FF2B5EF4-FFF2-40B4-BE49-F238E27FC236}">
                <a16:creationId xmlns:a16="http://schemas.microsoft.com/office/drawing/2014/main" id="{464F1C33-20B2-B299-4489-BA9957A8E948}"/>
              </a:ext>
            </a:extLst>
          </p:cNvPr>
          <p:cNvSpPr/>
          <p:nvPr/>
        </p:nvSpPr>
        <p:spPr>
          <a:xfrm>
            <a:off x="-1682905" y="-139285"/>
            <a:ext cx="7199285" cy="6858000"/>
          </a:xfrm>
          <a:prstGeom prst="ellipse">
            <a:avLst/>
          </a:prstGeom>
          <a:noFill/>
          <a:ln w="317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Ellipse 6">
            <a:extLst>
              <a:ext uri="{FF2B5EF4-FFF2-40B4-BE49-F238E27FC236}">
                <a16:creationId xmlns:a16="http://schemas.microsoft.com/office/drawing/2014/main" id="{32395BFF-F02B-666E-AEC6-406D87C3BAD3}"/>
              </a:ext>
            </a:extLst>
          </p:cNvPr>
          <p:cNvSpPr/>
          <p:nvPr/>
        </p:nvSpPr>
        <p:spPr>
          <a:xfrm>
            <a:off x="4103557" y="477809"/>
            <a:ext cx="281066" cy="281066"/>
          </a:xfrm>
          <a:prstGeom prst="ellipse">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Ellipse 7">
            <a:extLst>
              <a:ext uri="{FF2B5EF4-FFF2-40B4-BE49-F238E27FC236}">
                <a16:creationId xmlns:a16="http://schemas.microsoft.com/office/drawing/2014/main" id="{416502F3-6C4D-4E16-34F4-3C211FB2D783}"/>
              </a:ext>
            </a:extLst>
          </p:cNvPr>
          <p:cNvSpPr/>
          <p:nvPr/>
        </p:nvSpPr>
        <p:spPr>
          <a:xfrm>
            <a:off x="5392711" y="2659199"/>
            <a:ext cx="281066" cy="281066"/>
          </a:xfrm>
          <a:prstGeom prst="ellipse">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ZoneTexte 8">
            <a:extLst>
              <a:ext uri="{FF2B5EF4-FFF2-40B4-BE49-F238E27FC236}">
                <a16:creationId xmlns:a16="http://schemas.microsoft.com/office/drawing/2014/main" id="{99CC5FA4-DE56-2957-980C-FC6B36B060EA}"/>
              </a:ext>
            </a:extLst>
          </p:cNvPr>
          <p:cNvSpPr txBox="1"/>
          <p:nvPr/>
        </p:nvSpPr>
        <p:spPr>
          <a:xfrm>
            <a:off x="5650048" y="1733833"/>
            <a:ext cx="6474495" cy="2800767"/>
          </a:xfrm>
          <a:prstGeom prst="rect">
            <a:avLst/>
          </a:prstGeom>
          <a:noFill/>
        </p:spPr>
        <p:txBody>
          <a:bodyPr wrap="square" rtlCol="0">
            <a:spAutoFit/>
          </a:bodyPr>
          <a:lstStyle/>
          <a:p>
            <a:pPr lvl="0" eaLnBrk="0" fontAlgn="base" hangingPunct="0">
              <a:spcBef>
                <a:spcPct val="0"/>
              </a:spcBef>
              <a:spcAft>
                <a:spcPct val="0"/>
              </a:spcAft>
              <a:buFontTx/>
              <a:buChar char="•"/>
            </a:pPr>
            <a:r>
              <a:rPr kumimoji="0" lang="en-GB" sz="2200" i="0" u="none" strike="noStrike" cap="none" normalizeH="0" baseline="0" noProof="0" dirty="0">
                <a:ln>
                  <a:noFill/>
                </a:ln>
                <a:solidFill>
                  <a:schemeClr val="bg1"/>
                </a:solidFill>
                <a:effectLst/>
                <a:latin typeface="Book Antiqua" panose="02040602050305030304" pitchFamily="18" charset="0"/>
              </a:rPr>
              <a:t>Enable fast and easy communication worldwide</a:t>
            </a:r>
          </a:p>
          <a:p>
            <a:pPr lvl="0" eaLnBrk="0" fontAlgn="base" hangingPunct="0">
              <a:spcBef>
                <a:spcPct val="0"/>
              </a:spcBef>
              <a:spcAft>
                <a:spcPct val="0"/>
              </a:spcAft>
              <a:buFontTx/>
              <a:buChar char="•"/>
            </a:pPr>
            <a:r>
              <a:rPr kumimoji="0" lang="en-GB" sz="2200" i="0" u="none" strike="noStrike" cap="none" normalizeH="0" baseline="0" noProof="0" dirty="0">
                <a:ln>
                  <a:noFill/>
                </a:ln>
                <a:solidFill>
                  <a:schemeClr val="bg1"/>
                </a:solidFill>
                <a:effectLst/>
                <a:latin typeface="Book Antiqua" panose="02040602050305030304" pitchFamily="18" charset="0"/>
              </a:rPr>
              <a:t>Provide quick access to information and knowledge</a:t>
            </a:r>
          </a:p>
          <a:p>
            <a:pPr lvl="0" eaLnBrk="0" fontAlgn="base" hangingPunct="0">
              <a:spcBef>
                <a:spcPct val="0"/>
              </a:spcBef>
              <a:spcAft>
                <a:spcPct val="0"/>
              </a:spcAft>
              <a:buFontTx/>
              <a:buChar char="•"/>
            </a:pPr>
            <a:r>
              <a:rPr kumimoji="0" lang="en-GB" sz="2200" i="0" u="none" strike="noStrike" cap="none" normalizeH="0" baseline="0" noProof="0" dirty="0">
                <a:ln>
                  <a:noFill/>
                </a:ln>
                <a:solidFill>
                  <a:schemeClr val="bg1"/>
                </a:solidFill>
                <a:effectLst/>
                <a:latin typeface="Book Antiqua" panose="02040602050305030304" pitchFamily="18" charset="0"/>
              </a:rPr>
              <a:t>Improve education through e-learning and digital tools</a:t>
            </a:r>
          </a:p>
          <a:p>
            <a:pPr lvl="0" eaLnBrk="0" fontAlgn="base" hangingPunct="0">
              <a:spcBef>
                <a:spcPct val="0"/>
              </a:spcBef>
              <a:spcAft>
                <a:spcPct val="0"/>
              </a:spcAft>
              <a:buFontTx/>
              <a:buChar char="•"/>
            </a:pPr>
            <a:r>
              <a:rPr kumimoji="0" lang="en-GB" sz="2200" i="0" u="none" strike="noStrike" cap="none" normalizeH="0" baseline="0" noProof="0" dirty="0">
                <a:ln>
                  <a:noFill/>
                </a:ln>
                <a:solidFill>
                  <a:schemeClr val="bg1"/>
                </a:solidFill>
                <a:effectLst/>
                <a:latin typeface="Book Antiqua" panose="02040602050305030304" pitchFamily="18" charset="0"/>
              </a:rPr>
              <a:t>Increase productivity and efficiency in businesses</a:t>
            </a:r>
          </a:p>
          <a:p>
            <a:pPr lvl="0" eaLnBrk="0" fontAlgn="base" hangingPunct="0">
              <a:spcBef>
                <a:spcPct val="0"/>
              </a:spcBef>
              <a:spcAft>
                <a:spcPct val="0"/>
              </a:spcAft>
              <a:buFontTx/>
              <a:buChar char="•"/>
            </a:pPr>
            <a:r>
              <a:rPr kumimoji="0" lang="en-GB" sz="2200" i="0" u="none" strike="noStrike" cap="none" normalizeH="0" baseline="0" noProof="0" dirty="0">
                <a:ln>
                  <a:noFill/>
                </a:ln>
                <a:solidFill>
                  <a:schemeClr val="bg1"/>
                </a:solidFill>
                <a:effectLst/>
                <a:latin typeface="Book Antiqua" panose="02040602050305030304" pitchFamily="18" charset="0"/>
              </a:rPr>
              <a:t>Support healthcare (telemedicine, digital records)</a:t>
            </a:r>
          </a:p>
          <a:p>
            <a:endParaRPr lang="en-GB" sz="2200" noProof="0" dirty="0">
              <a:solidFill>
                <a:schemeClr val="bg1"/>
              </a:solidFill>
              <a:latin typeface="Book Antiqua" panose="02040602050305030304" pitchFamily="18" charset="0"/>
            </a:endParaRPr>
          </a:p>
        </p:txBody>
      </p:sp>
      <p:sp>
        <p:nvSpPr>
          <p:cNvPr id="10" name="ZoneTexte 9">
            <a:extLst>
              <a:ext uri="{FF2B5EF4-FFF2-40B4-BE49-F238E27FC236}">
                <a16:creationId xmlns:a16="http://schemas.microsoft.com/office/drawing/2014/main" id="{BDD1043F-EACE-A54B-257D-68E276A4D226}"/>
              </a:ext>
            </a:extLst>
          </p:cNvPr>
          <p:cNvSpPr txBox="1"/>
          <p:nvPr/>
        </p:nvSpPr>
        <p:spPr>
          <a:xfrm>
            <a:off x="4384623" y="420321"/>
            <a:ext cx="2263514" cy="338554"/>
          </a:xfrm>
          <a:prstGeom prst="rect">
            <a:avLst/>
          </a:prstGeom>
          <a:noFill/>
        </p:spPr>
        <p:txBody>
          <a:bodyPr wrap="square" rtlCol="0">
            <a:spAutoFit/>
          </a:bodyPr>
          <a:lstStyle/>
          <a:p>
            <a:r>
              <a:rPr lang="en-GB" sz="1600" noProof="0" dirty="0">
                <a:solidFill>
                  <a:schemeClr val="bg1"/>
                </a:solidFill>
                <a:latin typeface="Book Antiqua" panose="02040602050305030304" pitchFamily="18" charset="0"/>
              </a:rPr>
              <a:t>Definition </a:t>
            </a:r>
          </a:p>
        </p:txBody>
      </p:sp>
      <p:sp>
        <p:nvSpPr>
          <p:cNvPr id="5" name="ZoneTexte 4">
            <a:extLst>
              <a:ext uri="{FF2B5EF4-FFF2-40B4-BE49-F238E27FC236}">
                <a16:creationId xmlns:a16="http://schemas.microsoft.com/office/drawing/2014/main" id="{198F970E-CD41-05E7-07D9-5CFF28999D36}"/>
              </a:ext>
            </a:extLst>
          </p:cNvPr>
          <p:cNvSpPr txBox="1"/>
          <p:nvPr/>
        </p:nvSpPr>
        <p:spPr>
          <a:xfrm>
            <a:off x="292310" y="2936557"/>
            <a:ext cx="4826831" cy="492443"/>
          </a:xfrm>
          <a:prstGeom prst="rect">
            <a:avLst/>
          </a:prstGeom>
          <a:noFill/>
        </p:spPr>
        <p:txBody>
          <a:bodyPr wrap="square" rtlCol="0">
            <a:spAutoFit/>
          </a:bodyPr>
          <a:lstStyle/>
          <a:p>
            <a:r>
              <a:rPr lang="en-GB" sz="2600" noProof="0" dirty="0">
                <a:solidFill>
                  <a:srgbClr val="FFFFCC"/>
                </a:solidFill>
              </a:rPr>
              <a:t>Why are TIC important today?</a:t>
            </a:r>
          </a:p>
        </p:txBody>
      </p:sp>
    </p:spTree>
    <p:extLst>
      <p:ext uri="{BB962C8B-B14F-4D97-AF65-F5344CB8AC3E}">
        <p14:creationId xmlns:p14="http://schemas.microsoft.com/office/powerpoint/2010/main" val="2338145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21"/>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ED79DD52-BAD4-E7B5-6B98-1FAEDC397FF4}"/>
              </a:ext>
            </a:extLst>
          </p:cNvPr>
          <p:cNvPicPr>
            <a:picLocks noChangeAspect="1"/>
          </p:cNvPicPr>
          <p:nvPr/>
        </p:nvPicPr>
        <p:blipFill>
          <a:blip r:embed="rId4"/>
          <a:stretch>
            <a:fillRect/>
          </a:stretch>
        </p:blipFill>
        <p:spPr>
          <a:xfrm>
            <a:off x="0" y="-19440"/>
            <a:ext cx="12192000" cy="6877440"/>
          </a:xfrm>
          <a:prstGeom prst="rect">
            <a:avLst/>
          </a:prstGeom>
        </p:spPr>
      </p:pic>
      <p:sp>
        <p:nvSpPr>
          <p:cNvPr id="3" name="ZoneTexte 2">
            <a:extLst>
              <a:ext uri="{FF2B5EF4-FFF2-40B4-BE49-F238E27FC236}">
                <a16:creationId xmlns:a16="http://schemas.microsoft.com/office/drawing/2014/main" id="{EF880689-9E7A-6116-36AB-104BFA06367F}"/>
              </a:ext>
            </a:extLst>
          </p:cNvPr>
          <p:cNvSpPr txBox="1"/>
          <p:nvPr/>
        </p:nvSpPr>
        <p:spPr>
          <a:xfrm>
            <a:off x="1569492" y="2105561"/>
            <a:ext cx="9539786" cy="1323439"/>
          </a:xfrm>
          <a:prstGeom prst="rect">
            <a:avLst/>
          </a:prstGeom>
          <a:noFill/>
        </p:spPr>
        <p:txBody>
          <a:bodyPr wrap="square" rtlCol="0">
            <a:spAutoFit/>
          </a:bodyPr>
          <a:lstStyle/>
          <a:p>
            <a:r>
              <a:rPr lang="en-GB" sz="8000" noProof="0" dirty="0">
                <a:solidFill>
                  <a:srgbClr val="FFFFCC"/>
                </a:solidFill>
                <a:latin typeface="Book Antiqua" panose="02040602050305030304" pitchFamily="18" charset="0"/>
              </a:rPr>
              <a:t>Components of TIC</a:t>
            </a:r>
          </a:p>
        </p:txBody>
      </p:sp>
    </p:spTree>
    <p:extLst>
      <p:ext uri="{BB962C8B-B14F-4D97-AF65-F5344CB8AC3E}">
        <p14:creationId xmlns:p14="http://schemas.microsoft.com/office/powerpoint/2010/main" val="3190406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21"/>
                    </a14:imgEffect>
                  </a14:imgLayer>
                </a14:imgProps>
              </a:ext>
            </a:extLst>
          </a:blip>
          <a:srcRect/>
          <a:stretch>
            <a:fillRect/>
          </a:stretch>
        </a:blipFill>
        <a:effectLst/>
      </p:bgPr>
    </p:bg>
    <p:spTree>
      <p:nvGrpSpPr>
        <p:cNvPr id="1" name="">
          <a:extLst>
            <a:ext uri="{FF2B5EF4-FFF2-40B4-BE49-F238E27FC236}">
              <a16:creationId xmlns:a16="http://schemas.microsoft.com/office/drawing/2014/main" id="{9134C66E-BCA7-9319-58E1-04814D90753B}"/>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5C8F4A76-7988-4184-E1CC-DC8EDF4DB517}"/>
              </a:ext>
            </a:extLst>
          </p:cNvPr>
          <p:cNvSpPr txBox="1"/>
          <p:nvPr/>
        </p:nvSpPr>
        <p:spPr>
          <a:xfrm>
            <a:off x="548185" y="7567683"/>
            <a:ext cx="4080680" cy="553998"/>
          </a:xfrm>
          <a:prstGeom prst="rect">
            <a:avLst/>
          </a:prstGeom>
          <a:noFill/>
        </p:spPr>
        <p:txBody>
          <a:bodyPr wrap="square" rtlCol="0">
            <a:spAutoFit/>
          </a:bodyPr>
          <a:lstStyle/>
          <a:p>
            <a:r>
              <a:rPr lang="en-GB" sz="3000" noProof="0" dirty="0">
                <a:solidFill>
                  <a:srgbClr val="FFFFCC"/>
                </a:solidFill>
                <a:latin typeface="Book Antiqua" panose="02040602050305030304" pitchFamily="18" charset="0"/>
              </a:rPr>
              <a:t>Components of TIC</a:t>
            </a:r>
          </a:p>
        </p:txBody>
      </p:sp>
      <p:pic>
        <p:nvPicPr>
          <p:cNvPr id="7" name="Image 6">
            <a:extLst>
              <a:ext uri="{FF2B5EF4-FFF2-40B4-BE49-F238E27FC236}">
                <a16:creationId xmlns:a16="http://schemas.microsoft.com/office/drawing/2014/main" id="{85442771-4AB2-FB09-48F4-7070E7B6B847}"/>
              </a:ext>
            </a:extLst>
          </p:cNvPr>
          <p:cNvPicPr>
            <a:picLocks noChangeAspect="1"/>
          </p:cNvPicPr>
          <p:nvPr/>
        </p:nvPicPr>
        <p:blipFill>
          <a:blip r:embed="rId4"/>
          <a:stretch>
            <a:fillRect/>
          </a:stretch>
        </p:blipFill>
        <p:spPr>
          <a:xfrm>
            <a:off x="0" y="-23757"/>
            <a:ext cx="12192000" cy="6877440"/>
          </a:xfrm>
          <a:prstGeom prst="rect">
            <a:avLst/>
          </a:prstGeom>
        </p:spPr>
      </p:pic>
      <p:sp>
        <p:nvSpPr>
          <p:cNvPr id="8" name="ZoneTexte 7">
            <a:extLst>
              <a:ext uri="{FF2B5EF4-FFF2-40B4-BE49-F238E27FC236}">
                <a16:creationId xmlns:a16="http://schemas.microsoft.com/office/drawing/2014/main" id="{DB2EAC8E-BAD0-EF1D-EE37-FD09DE1E5F7B}"/>
              </a:ext>
            </a:extLst>
          </p:cNvPr>
          <p:cNvSpPr txBox="1"/>
          <p:nvPr/>
        </p:nvSpPr>
        <p:spPr>
          <a:xfrm>
            <a:off x="3935105" y="227463"/>
            <a:ext cx="4080680" cy="630942"/>
          </a:xfrm>
          <a:prstGeom prst="rect">
            <a:avLst/>
          </a:prstGeom>
          <a:noFill/>
        </p:spPr>
        <p:txBody>
          <a:bodyPr wrap="square" rtlCol="0">
            <a:spAutoFit/>
          </a:bodyPr>
          <a:lstStyle/>
          <a:p>
            <a:r>
              <a:rPr lang="en-GB" sz="3500" noProof="0" dirty="0">
                <a:solidFill>
                  <a:srgbClr val="FFFFCC"/>
                </a:solidFill>
                <a:latin typeface="Book Antiqua" panose="02040602050305030304" pitchFamily="18" charset="0"/>
              </a:rPr>
              <a:t>Components of TIC</a:t>
            </a:r>
          </a:p>
        </p:txBody>
      </p:sp>
      <p:sp useBgFill="1">
        <p:nvSpPr>
          <p:cNvPr id="9" name="Ellipse 8">
            <a:extLst>
              <a:ext uri="{FF2B5EF4-FFF2-40B4-BE49-F238E27FC236}">
                <a16:creationId xmlns:a16="http://schemas.microsoft.com/office/drawing/2014/main" id="{FBBA2DBF-52BB-BC5B-C97B-A22BECC6037A}"/>
              </a:ext>
            </a:extLst>
          </p:cNvPr>
          <p:cNvSpPr/>
          <p:nvPr/>
        </p:nvSpPr>
        <p:spPr>
          <a:xfrm>
            <a:off x="9985610" y="461736"/>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bg1">
                    <a:lumMod val="50000"/>
                  </a:schemeClr>
                </a:solidFill>
                <a:latin typeface="Book Antiqua" panose="02040602050305030304" pitchFamily="18" charset="0"/>
              </a:rPr>
              <a:t>Hardware</a:t>
            </a:r>
          </a:p>
        </p:txBody>
      </p:sp>
      <p:sp useBgFill="1">
        <p:nvSpPr>
          <p:cNvPr id="10" name="Ellipse 9">
            <a:extLst>
              <a:ext uri="{FF2B5EF4-FFF2-40B4-BE49-F238E27FC236}">
                <a16:creationId xmlns:a16="http://schemas.microsoft.com/office/drawing/2014/main" id="{C280FDE4-3AFF-AF5F-591F-7A6F4D10ABC1}"/>
              </a:ext>
            </a:extLst>
          </p:cNvPr>
          <p:cNvSpPr/>
          <p:nvPr/>
        </p:nvSpPr>
        <p:spPr>
          <a:xfrm>
            <a:off x="9985610" y="4578827"/>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bg1">
                    <a:lumMod val="50000"/>
                  </a:schemeClr>
                </a:solidFill>
                <a:latin typeface="Book Antiqua" panose="02040602050305030304" pitchFamily="18" charset="0"/>
              </a:rPr>
              <a:t>Network and internet </a:t>
            </a:r>
          </a:p>
        </p:txBody>
      </p:sp>
      <p:sp useBgFill="1">
        <p:nvSpPr>
          <p:cNvPr id="12" name="Ellipse 11">
            <a:extLst>
              <a:ext uri="{FF2B5EF4-FFF2-40B4-BE49-F238E27FC236}">
                <a16:creationId xmlns:a16="http://schemas.microsoft.com/office/drawing/2014/main" id="{FA9DFC88-89A9-1016-6DC8-C9D2BF9DD49E}"/>
              </a:ext>
            </a:extLst>
          </p:cNvPr>
          <p:cNvSpPr/>
          <p:nvPr/>
        </p:nvSpPr>
        <p:spPr>
          <a:xfrm>
            <a:off x="9985610" y="2466445"/>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bg1">
                    <a:lumMod val="50000"/>
                  </a:schemeClr>
                </a:solidFill>
                <a:latin typeface="Book Antiqua" panose="02040602050305030304" pitchFamily="18" charset="0"/>
              </a:rPr>
              <a:t>software</a:t>
            </a:r>
          </a:p>
        </p:txBody>
      </p:sp>
      <p:sp>
        <p:nvSpPr>
          <p:cNvPr id="13" name="ZoneTexte 12">
            <a:extLst>
              <a:ext uri="{FF2B5EF4-FFF2-40B4-BE49-F238E27FC236}">
                <a16:creationId xmlns:a16="http://schemas.microsoft.com/office/drawing/2014/main" id="{8BC1B45A-7A54-B486-603E-30B21B2F585B}"/>
              </a:ext>
            </a:extLst>
          </p:cNvPr>
          <p:cNvSpPr txBox="1"/>
          <p:nvPr/>
        </p:nvSpPr>
        <p:spPr>
          <a:xfrm>
            <a:off x="548185" y="2074458"/>
            <a:ext cx="8008961" cy="2400657"/>
          </a:xfrm>
          <a:prstGeom prst="rect">
            <a:avLst/>
          </a:prstGeom>
          <a:noFill/>
        </p:spPr>
        <p:txBody>
          <a:bodyPr wrap="square" rtlCol="0">
            <a:spAutoFit/>
          </a:bodyPr>
          <a:lstStyle/>
          <a:p>
            <a:pPr algn="ctr"/>
            <a:r>
              <a:rPr lang="en-GB" sz="2500" noProof="0" dirty="0">
                <a:solidFill>
                  <a:schemeClr val="bg1"/>
                </a:solidFill>
                <a:latin typeface="Book Antiqua" panose="02040602050305030304" pitchFamily="18" charset="0"/>
              </a:rPr>
              <a:t>The components of ICT include hardware (computers, mobile devices), software (applications and systems), networks, data management (databases, cloud storage), telecommunications, IoT, and people and procedures. Together, they enable efficient communication, information management, and digital innovation.</a:t>
            </a:r>
          </a:p>
        </p:txBody>
      </p:sp>
    </p:spTree>
    <p:extLst>
      <p:ext uri="{BB962C8B-B14F-4D97-AF65-F5344CB8AC3E}">
        <p14:creationId xmlns:p14="http://schemas.microsoft.com/office/powerpoint/2010/main" val="3441372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BEBA8EAE-BF5A-486C-A8C5-ECC9F3942E4B}">
                <a14:imgProps xmlns:a14="http://schemas.microsoft.com/office/drawing/2010/main">
                  <a14:imgLayer r:embed="rId4">
                    <a14:imgEffect>
                      <a14:artisticBlur radius="21"/>
                    </a14:imgEffect>
                  </a14:imgLayer>
                </a14:imgProps>
              </a:ext>
            </a:extLst>
          </a:blip>
          <a:srcRect/>
          <a:stretch>
            <a:fillRect/>
          </a:stretch>
        </a:blipFill>
        <a:effectLst/>
      </p:bgPr>
    </p:bg>
    <p:spTree>
      <p:nvGrpSpPr>
        <p:cNvPr id="1" name="">
          <a:extLst>
            <a:ext uri="{FF2B5EF4-FFF2-40B4-BE49-F238E27FC236}">
              <a16:creationId xmlns:a16="http://schemas.microsoft.com/office/drawing/2014/main" id="{4131EB42-52F7-A11F-16E8-59C800D617D2}"/>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AB279C9F-1DDB-9AAE-2688-C1DB26BA2994}"/>
              </a:ext>
            </a:extLst>
          </p:cNvPr>
          <p:cNvSpPr txBox="1"/>
          <p:nvPr/>
        </p:nvSpPr>
        <p:spPr>
          <a:xfrm>
            <a:off x="548185" y="7567683"/>
            <a:ext cx="4080680" cy="553998"/>
          </a:xfrm>
          <a:prstGeom prst="rect">
            <a:avLst/>
          </a:prstGeom>
          <a:noFill/>
        </p:spPr>
        <p:txBody>
          <a:bodyPr wrap="square" rtlCol="0">
            <a:spAutoFit/>
          </a:bodyPr>
          <a:lstStyle/>
          <a:p>
            <a:r>
              <a:rPr lang="en-GB" sz="3000" noProof="0" dirty="0">
                <a:solidFill>
                  <a:srgbClr val="FFFFCC"/>
                </a:solidFill>
                <a:latin typeface="Book Antiqua" panose="02040602050305030304" pitchFamily="18" charset="0"/>
              </a:rPr>
              <a:t>Components of TIC</a:t>
            </a:r>
          </a:p>
        </p:txBody>
      </p:sp>
      <p:pic>
        <p:nvPicPr>
          <p:cNvPr id="7" name="Image 6">
            <a:extLst>
              <a:ext uri="{FF2B5EF4-FFF2-40B4-BE49-F238E27FC236}">
                <a16:creationId xmlns:a16="http://schemas.microsoft.com/office/drawing/2014/main" id="{720CE7C5-B196-365C-1C08-56A19940501F}"/>
              </a:ext>
            </a:extLst>
          </p:cNvPr>
          <p:cNvPicPr>
            <a:picLocks noChangeAspect="1"/>
          </p:cNvPicPr>
          <p:nvPr/>
        </p:nvPicPr>
        <p:blipFill>
          <a:blip r:embed="rId5"/>
          <a:stretch>
            <a:fillRect/>
          </a:stretch>
        </p:blipFill>
        <p:spPr>
          <a:xfrm>
            <a:off x="0" y="-23757"/>
            <a:ext cx="12192000" cy="6877440"/>
          </a:xfrm>
          <a:prstGeom prst="rect">
            <a:avLst/>
          </a:prstGeom>
        </p:spPr>
      </p:pic>
      <p:sp>
        <p:nvSpPr>
          <p:cNvPr id="8" name="ZoneTexte 7">
            <a:extLst>
              <a:ext uri="{FF2B5EF4-FFF2-40B4-BE49-F238E27FC236}">
                <a16:creationId xmlns:a16="http://schemas.microsoft.com/office/drawing/2014/main" id="{EFBA31A4-1575-6C29-2C63-4B2E0FD4CD0A}"/>
              </a:ext>
            </a:extLst>
          </p:cNvPr>
          <p:cNvSpPr txBox="1"/>
          <p:nvPr/>
        </p:nvSpPr>
        <p:spPr>
          <a:xfrm>
            <a:off x="3935105" y="227463"/>
            <a:ext cx="4080680" cy="630942"/>
          </a:xfrm>
          <a:prstGeom prst="rect">
            <a:avLst/>
          </a:prstGeom>
          <a:noFill/>
        </p:spPr>
        <p:txBody>
          <a:bodyPr wrap="square" rtlCol="0">
            <a:spAutoFit/>
          </a:bodyPr>
          <a:lstStyle/>
          <a:p>
            <a:r>
              <a:rPr lang="en-GB" sz="3500" noProof="0" dirty="0">
                <a:solidFill>
                  <a:srgbClr val="FFFFCC"/>
                </a:solidFill>
                <a:latin typeface="Book Antiqua" panose="02040602050305030304" pitchFamily="18" charset="0"/>
              </a:rPr>
              <a:t>Components of TIC</a:t>
            </a:r>
          </a:p>
        </p:txBody>
      </p:sp>
      <p:sp useBgFill="1">
        <p:nvSpPr>
          <p:cNvPr id="9" name="Ellipse 8">
            <a:extLst>
              <a:ext uri="{FF2B5EF4-FFF2-40B4-BE49-F238E27FC236}">
                <a16:creationId xmlns:a16="http://schemas.microsoft.com/office/drawing/2014/main" id="{BB618307-FE18-1A4D-F866-C2F256E61F74}"/>
              </a:ext>
            </a:extLst>
          </p:cNvPr>
          <p:cNvSpPr/>
          <p:nvPr/>
        </p:nvSpPr>
        <p:spPr>
          <a:xfrm>
            <a:off x="275228" y="542934"/>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rgbClr val="FFFFCC"/>
                </a:solidFill>
                <a:latin typeface="Book Antiqua" panose="02040602050305030304" pitchFamily="18" charset="0"/>
              </a:rPr>
              <a:t>Hardware</a:t>
            </a:r>
          </a:p>
        </p:txBody>
      </p:sp>
      <p:sp useBgFill="1">
        <p:nvSpPr>
          <p:cNvPr id="10" name="Ellipse 9">
            <a:extLst>
              <a:ext uri="{FF2B5EF4-FFF2-40B4-BE49-F238E27FC236}">
                <a16:creationId xmlns:a16="http://schemas.microsoft.com/office/drawing/2014/main" id="{9989094B-E185-1908-4960-19AADBD38988}"/>
              </a:ext>
            </a:extLst>
          </p:cNvPr>
          <p:cNvSpPr/>
          <p:nvPr/>
        </p:nvSpPr>
        <p:spPr>
          <a:xfrm>
            <a:off x="9985610" y="4578827"/>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bg1">
                    <a:lumMod val="50000"/>
                  </a:schemeClr>
                </a:solidFill>
                <a:latin typeface="Book Antiqua" panose="02040602050305030304" pitchFamily="18" charset="0"/>
              </a:rPr>
              <a:t>Network and internet </a:t>
            </a:r>
          </a:p>
        </p:txBody>
      </p:sp>
      <p:sp useBgFill="1">
        <p:nvSpPr>
          <p:cNvPr id="12" name="Ellipse 11">
            <a:extLst>
              <a:ext uri="{FF2B5EF4-FFF2-40B4-BE49-F238E27FC236}">
                <a16:creationId xmlns:a16="http://schemas.microsoft.com/office/drawing/2014/main" id="{3E4D49D9-7F2D-39E2-E65B-E7A0323DD280}"/>
              </a:ext>
            </a:extLst>
          </p:cNvPr>
          <p:cNvSpPr/>
          <p:nvPr/>
        </p:nvSpPr>
        <p:spPr>
          <a:xfrm>
            <a:off x="9985610" y="2466445"/>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bg1">
                    <a:lumMod val="50000"/>
                  </a:schemeClr>
                </a:solidFill>
                <a:latin typeface="Book Antiqua" panose="02040602050305030304" pitchFamily="18" charset="0"/>
              </a:rPr>
              <a:t>software</a:t>
            </a:r>
          </a:p>
        </p:txBody>
      </p:sp>
      <p:sp>
        <p:nvSpPr>
          <p:cNvPr id="13" name="ZoneTexte 12">
            <a:extLst>
              <a:ext uri="{FF2B5EF4-FFF2-40B4-BE49-F238E27FC236}">
                <a16:creationId xmlns:a16="http://schemas.microsoft.com/office/drawing/2014/main" id="{2C36C81E-90D5-C2AA-7F9D-DBA6C336B159}"/>
              </a:ext>
            </a:extLst>
          </p:cNvPr>
          <p:cNvSpPr txBox="1"/>
          <p:nvPr/>
        </p:nvSpPr>
        <p:spPr>
          <a:xfrm>
            <a:off x="1271516" y="2920620"/>
            <a:ext cx="8008961" cy="2015936"/>
          </a:xfrm>
          <a:prstGeom prst="rect">
            <a:avLst/>
          </a:prstGeom>
          <a:noFill/>
        </p:spPr>
        <p:txBody>
          <a:bodyPr wrap="square" rtlCol="0">
            <a:spAutoFit/>
          </a:bodyPr>
          <a:lstStyle/>
          <a:p>
            <a:pPr algn="ctr"/>
            <a:r>
              <a:rPr lang="en-GB" sz="2500" noProof="0" dirty="0">
                <a:solidFill>
                  <a:schemeClr val="bg1"/>
                </a:solidFill>
                <a:latin typeface="Book Antiqua" panose="02040602050305030304" pitchFamily="18" charset="0"/>
              </a:rPr>
              <a:t>Hardware is the physical foundation of ICT, consisting of the devices and equipment used to perform tasks, process data, and connect networks . ere are the main categories of hardware in ICT:  </a:t>
            </a:r>
            <a:r>
              <a:rPr lang="en-GB" sz="2500" b="1" noProof="0" dirty="0">
                <a:solidFill>
                  <a:schemeClr val="bg1"/>
                </a:solidFill>
                <a:latin typeface="Book Antiqua" panose="02040602050305030304" pitchFamily="18" charset="0"/>
              </a:rPr>
              <a:t>Computers , Mobile Devices, Networking Equipment, Peripheral Devices</a:t>
            </a:r>
            <a:endParaRPr lang="en-GB" sz="2500" noProof="0" dirty="0">
              <a:solidFill>
                <a:schemeClr val="bg1"/>
              </a:solidFill>
              <a:latin typeface="Book Antiqua" panose="02040602050305030304" pitchFamily="18" charset="0"/>
            </a:endParaRPr>
          </a:p>
        </p:txBody>
      </p:sp>
    </p:spTree>
    <p:extLst>
      <p:ext uri="{BB962C8B-B14F-4D97-AF65-F5344CB8AC3E}">
        <p14:creationId xmlns:p14="http://schemas.microsoft.com/office/powerpoint/2010/main" val="3279080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BEBA8EAE-BF5A-486C-A8C5-ECC9F3942E4B}">
                <a14:imgProps xmlns:a14="http://schemas.microsoft.com/office/drawing/2010/main">
                  <a14:imgLayer r:embed="rId4">
                    <a14:imgEffect>
                      <a14:artisticBlur radius="21"/>
                    </a14:imgEffect>
                  </a14:imgLayer>
                </a14:imgProps>
              </a:ext>
            </a:extLst>
          </a:blip>
          <a:srcRect/>
          <a:stretch>
            <a:fillRect/>
          </a:stretch>
        </a:blipFill>
        <a:effectLst/>
      </p:bgPr>
    </p:bg>
    <p:spTree>
      <p:nvGrpSpPr>
        <p:cNvPr id="1" name="">
          <a:extLst>
            <a:ext uri="{FF2B5EF4-FFF2-40B4-BE49-F238E27FC236}">
              <a16:creationId xmlns:a16="http://schemas.microsoft.com/office/drawing/2014/main" id="{8572E3FE-26EB-3C32-E011-03939CF95F55}"/>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C66F3579-576F-64DA-5E36-198650794F14}"/>
              </a:ext>
            </a:extLst>
          </p:cNvPr>
          <p:cNvSpPr txBox="1"/>
          <p:nvPr/>
        </p:nvSpPr>
        <p:spPr>
          <a:xfrm>
            <a:off x="548185" y="7567683"/>
            <a:ext cx="4080680" cy="553998"/>
          </a:xfrm>
          <a:prstGeom prst="rect">
            <a:avLst/>
          </a:prstGeom>
          <a:noFill/>
        </p:spPr>
        <p:txBody>
          <a:bodyPr wrap="square" rtlCol="0">
            <a:spAutoFit/>
          </a:bodyPr>
          <a:lstStyle/>
          <a:p>
            <a:r>
              <a:rPr lang="en-GB" sz="3000" noProof="0" dirty="0">
                <a:solidFill>
                  <a:srgbClr val="FFFFCC"/>
                </a:solidFill>
                <a:latin typeface="Book Antiqua" panose="02040602050305030304" pitchFamily="18" charset="0"/>
              </a:rPr>
              <a:t>Components of TIC</a:t>
            </a:r>
          </a:p>
        </p:txBody>
      </p:sp>
      <p:pic>
        <p:nvPicPr>
          <p:cNvPr id="7" name="Image 6">
            <a:extLst>
              <a:ext uri="{FF2B5EF4-FFF2-40B4-BE49-F238E27FC236}">
                <a16:creationId xmlns:a16="http://schemas.microsoft.com/office/drawing/2014/main" id="{4F65CE6D-DBB5-E9E5-6E94-7E4AABD2DF77}"/>
              </a:ext>
            </a:extLst>
          </p:cNvPr>
          <p:cNvPicPr>
            <a:picLocks noChangeAspect="1"/>
          </p:cNvPicPr>
          <p:nvPr/>
        </p:nvPicPr>
        <p:blipFill>
          <a:blip r:embed="rId5"/>
          <a:stretch>
            <a:fillRect/>
          </a:stretch>
        </p:blipFill>
        <p:spPr>
          <a:xfrm>
            <a:off x="0" y="-23757"/>
            <a:ext cx="12192000" cy="6877440"/>
          </a:xfrm>
          <a:prstGeom prst="rect">
            <a:avLst/>
          </a:prstGeom>
        </p:spPr>
      </p:pic>
      <p:sp>
        <p:nvSpPr>
          <p:cNvPr id="8" name="ZoneTexte 7">
            <a:extLst>
              <a:ext uri="{FF2B5EF4-FFF2-40B4-BE49-F238E27FC236}">
                <a16:creationId xmlns:a16="http://schemas.microsoft.com/office/drawing/2014/main" id="{FB26376C-2E72-BBBB-B580-11214EA7D3DE}"/>
              </a:ext>
            </a:extLst>
          </p:cNvPr>
          <p:cNvSpPr txBox="1"/>
          <p:nvPr/>
        </p:nvSpPr>
        <p:spPr>
          <a:xfrm>
            <a:off x="3935105" y="227463"/>
            <a:ext cx="4080680" cy="630942"/>
          </a:xfrm>
          <a:prstGeom prst="rect">
            <a:avLst/>
          </a:prstGeom>
          <a:noFill/>
        </p:spPr>
        <p:txBody>
          <a:bodyPr wrap="square" rtlCol="0">
            <a:spAutoFit/>
          </a:bodyPr>
          <a:lstStyle/>
          <a:p>
            <a:r>
              <a:rPr lang="en-GB" sz="3500" noProof="0" dirty="0">
                <a:solidFill>
                  <a:srgbClr val="FFFFCC"/>
                </a:solidFill>
                <a:latin typeface="Book Antiqua" panose="02040602050305030304" pitchFamily="18" charset="0"/>
              </a:rPr>
              <a:t>Components of TIC</a:t>
            </a:r>
          </a:p>
        </p:txBody>
      </p:sp>
      <p:sp useBgFill="1">
        <p:nvSpPr>
          <p:cNvPr id="9" name="Ellipse 8">
            <a:extLst>
              <a:ext uri="{FF2B5EF4-FFF2-40B4-BE49-F238E27FC236}">
                <a16:creationId xmlns:a16="http://schemas.microsoft.com/office/drawing/2014/main" id="{9059430E-055D-51B0-C803-86EA7E591C16}"/>
              </a:ext>
            </a:extLst>
          </p:cNvPr>
          <p:cNvSpPr/>
          <p:nvPr/>
        </p:nvSpPr>
        <p:spPr>
          <a:xfrm>
            <a:off x="9985610" y="461736"/>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bg1">
                    <a:lumMod val="50000"/>
                  </a:schemeClr>
                </a:solidFill>
                <a:latin typeface="Book Antiqua" panose="02040602050305030304" pitchFamily="18" charset="0"/>
              </a:rPr>
              <a:t>Hardware</a:t>
            </a:r>
          </a:p>
        </p:txBody>
      </p:sp>
      <p:sp useBgFill="1">
        <p:nvSpPr>
          <p:cNvPr id="10" name="Ellipse 9">
            <a:extLst>
              <a:ext uri="{FF2B5EF4-FFF2-40B4-BE49-F238E27FC236}">
                <a16:creationId xmlns:a16="http://schemas.microsoft.com/office/drawing/2014/main" id="{887490B3-16EE-B404-7B46-BB2D563164C2}"/>
              </a:ext>
            </a:extLst>
          </p:cNvPr>
          <p:cNvSpPr/>
          <p:nvPr/>
        </p:nvSpPr>
        <p:spPr>
          <a:xfrm>
            <a:off x="9985610" y="4578827"/>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bg1">
                    <a:lumMod val="50000"/>
                  </a:schemeClr>
                </a:solidFill>
                <a:latin typeface="Book Antiqua" panose="02040602050305030304" pitchFamily="18" charset="0"/>
              </a:rPr>
              <a:t>Network and internet </a:t>
            </a:r>
          </a:p>
        </p:txBody>
      </p:sp>
      <p:sp useBgFill="1">
        <p:nvSpPr>
          <p:cNvPr id="12" name="Ellipse 11">
            <a:extLst>
              <a:ext uri="{FF2B5EF4-FFF2-40B4-BE49-F238E27FC236}">
                <a16:creationId xmlns:a16="http://schemas.microsoft.com/office/drawing/2014/main" id="{4395C86D-D7D4-73FD-EDB0-E47067848DB2}"/>
              </a:ext>
            </a:extLst>
          </p:cNvPr>
          <p:cNvSpPr/>
          <p:nvPr/>
        </p:nvSpPr>
        <p:spPr>
          <a:xfrm>
            <a:off x="275228" y="461736"/>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rgbClr val="FFFFCC"/>
                </a:solidFill>
                <a:latin typeface="Book Antiqua" panose="02040602050305030304" pitchFamily="18" charset="0"/>
              </a:rPr>
              <a:t>software</a:t>
            </a:r>
          </a:p>
        </p:txBody>
      </p:sp>
      <p:sp>
        <p:nvSpPr>
          <p:cNvPr id="13" name="ZoneTexte 12">
            <a:extLst>
              <a:ext uri="{FF2B5EF4-FFF2-40B4-BE49-F238E27FC236}">
                <a16:creationId xmlns:a16="http://schemas.microsoft.com/office/drawing/2014/main" id="{833F6E54-2B9A-F711-1272-73C743E31E45}"/>
              </a:ext>
            </a:extLst>
          </p:cNvPr>
          <p:cNvSpPr txBox="1"/>
          <p:nvPr/>
        </p:nvSpPr>
        <p:spPr>
          <a:xfrm>
            <a:off x="1271516" y="2920620"/>
            <a:ext cx="8008961" cy="2400657"/>
          </a:xfrm>
          <a:prstGeom prst="rect">
            <a:avLst/>
          </a:prstGeom>
          <a:noFill/>
        </p:spPr>
        <p:txBody>
          <a:bodyPr wrap="square" rtlCol="0">
            <a:spAutoFit/>
          </a:bodyPr>
          <a:lstStyle/>
          <a:p>
            <a:pPr algn="ctr"/>
            <a:r>
              <a:rPr lang="en-GB" sz="2500" noProof="0" dirty="0">
                <a:solidFill>
                  <a:schemeClr val="bg1"/>
                </a:solidFill>
                <a:latin typeface="Book Antiqua" panose="02040602050305030304" pitchFamily="18" charset="0"/>
              </a:rPr>
              <a:t>Software consists of programs and applications that run on hardware, allowing users to perform tasks, manage data, and communicate. It can be categorized into different types : </a:t>
            </a:r>
            <a:r>
              <a:rPr lang="en-GB" sz="2500" b="1" noProof="0" dirty="0">
                <a:solidFill>
                  <a:schemeClr val="bg1"/>
                </a:solidFill>
                <a:latin typeface="Book Antiqua" panose="02040602050305030304" pitchFamily="18" charset="0"/>
              </a:rPr>
              <a:t>Operating Systems (OS) , Application Software, Utility Software, Development Software</a:t>
            </a:r>
            <a:endParaRPr lang="en-GB" sz="2500" noProof="0" dirty="0">
              <a:solidFill>
                <a:schemeClr val="bg1"/>
              </a:solidFill>
              <a:latin typeface="Book Antiqua" panose="02040602050305030304" pitchFamily="18" charset="0"/>
            </a:endParaRPr>
          </a:p>
        </p:txBody>
      </p:sp>
    </p:spTree>
    <p:extLst>
      <p:ext uri="{BB962C8B-B14F-4D97-AF65-F5344CB8AC3E}">
        <p14:creationId xmlns:p14="http://schemas.microsoft.com/office/powerpoint/2010/main" val="522252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BEBA8EAE-BF5A-486C-A8C5-ECC9F3942E4B}">
                <a14:imgProps xmlns:a14="http://schemas.microsoft.com/office/drawing/2010/main">
                  <a14:imgLayer r:embed="rId4">
                    <a14:imgEffect>
                      <a14:artisticBlur radius="21"/>
                    </a14:imgEffect>
                  </a14:imgLayer>
                </a14:imgProps>
              </a:ext>
            </a:extLst>
          </a:blip>
          <a:srcRect/>
          <a:stretch>
            <a:fillRect/>
          </a:stretch>
        </a:blipFill>
        <a:effectLst/>
      </p:bgPr>
    </p:bg>
    <p:spTree>
      <p:nvGrpSpPr>
        <p:cNvPr id="1" name="">
          <a:extLst>
            <a:ext uri="{FF2B5EF4-FFF2-40B4-BE49-F238E27FC236}">
              <a16:creationId xmlns:a16="http://schemas.microsoft.com/office/drawing/2014/main" id="{00D63DA0-E983-77CD-6C9F-3883B25A8D13}"/>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4ABE6F2D-70B8-F01C-5116-34F4579D276D}"/>
              </a:ext>
            </a:extLst>
          </p:cNvPr>
          <p:cNvSpPr txBox="1"/>
          <p:nvPr/>
        </p:nvSpPr>
        <p:spPr>
          <a:xfrm>
            <a:off x="548185" y="7567683"/>
            <a:ext cx="4080680" cy="553998"/>
          </a:xfrm>
          <a:prstGeom prst="rect">
            <a:avLst/>
          </a:prstGeom>
          <a:noFill/>
        </p:spPr>
        <p:txBody>
          <a:bodyPr wrap="square" rtlCol="0">
            <a:spAutoFit/>
          </a:bodyPr>
          <a:lstStyle/>
          <a:p>
            <a:r>
              <a:rPr lang="en-GB" sz="3000" noProof="0" dirty="0">
                <a:solidFill>
                  <a:srgbClr val="FFFFCC"/>
                </a:solidFill>
                <a:latin typeface="Book Antiqua" panose="02040602050305030304" pitchFamily="18" charset="0"/>
              </a:rPr>
              <a:t>Components of TIC</a:t>
            </a:r>
          </a:p>
        </p:txBody>
      </p:sp>
      <p:pic>
        <p:nvPicPr>
          <p:cNvPr id="7" name="Image 6">
            <a:extLst>
              <a:ext uri="{FF2B5EF4-FFF2-40B4-BE49-F238E27FC236}">
                <a16:creationId xmlns:a16="http://schemas.microsoft.com/office/drawing/2014/main" id="{B7CB59CC-6E38-6F80-2CAB-943EA89CBD62}"/>
              </a:ext>
            </a:extLst>
          </p:cNvPr>
          <p:cNvPicPr>
            <a:picLocks noChangeAspect="1"/>
          </p:cNvPicPr>
          <p:nvPr/>
        </p:nvPicPr>
        <p:blipFill>
          <a:blip r:embed="rId5"/>
          <a:stretch>
            <a:fillRect/>
          </a:stretch>
        </p:blipFill>
        <p:spPr>
          <a:xfrm>
            <a:off x="0" y="-23757"/>
            <a:ext cx="12192000" cy="6877440"/>
          </a:xfrm>
          <a:prstGeom prst="rect">
            <a:avLst/>
          </a:prstGeom>
        </p:spPr>
      </p:pic>
      <p:sp>
        <p:nvSpPr>
          <p:cNvPr id="8" name="ZoneTexte 7">
            <a:extLst>
              <a:ext uri="{FF2B5EF4-FFF2-40B4-BE49-F238E27FC236}">
                <a16:creationId xmlns:a16="http://schemas.microsoft.com/office/drawing/2014/main" id="{563042F8-D060-F15A-FB03-19D772B11398}"/>
              </a:ext>
            </a:extLst>
          </p:cNvPr>
          <p:cNvSpPr txBox="1"/>
          <p:nvPr/>
        </p:nvSpPr>
        <p:spPr>
          <a:xfrm>
            <a:off x="3935105" y="227463"/>
            <a:ext cx="4080680" cy="630942"/>
          </a:xfrm>
          <a:prstGeom prst="rect">
            <a:avLst/>
          </a:prstGeom>
          <a:noFill/>
        </p:spPr>
        <p:txBody>
          <a:bodyPr wrap="square" rtlCol="0">
            <a:spAutoFit/>
          </a:bodyPr>
          <a:lstStyle/>
          <a:p>
            <a:r>
              <a:rPr lang="en-GB" sz="3500" noProof="0" dirty="0">
                <a:solidFill>
                  <a:srgbClr val="FFFFCC"/>
                </a:solidFill>
                <a:latin typeface="Book Antiqua" panose="02040602050305030304" pitchFamily="18" charset="0"/>
              </a:rPr>
              <a:t>Components of TIC</a:t>
            </a:r>
          </a:p>
        </p:txBody>
      </p:sp>
      <p:sp useBgFill="1">
        <p:nvSpPr>
          <p:cNvPr id="9" name="Ellipse 8">
            <a:extLst>
              <a:ext uri="{FF2B5EF4-FFF2-40B4-BE49-F238E27FC236}">
                <a16:creationId xmlns:a16="http://schemas.microsoft.com/office/drawing/2014/main" id="{E29F9229-547C-DD81-3763-0BBC80528A57}"/>
              </a:ext>
            </a:extLst>
          </p:cNvPr>
          <p:cNvSpPr/>
          <p:nvPr/>
        </p:nvSpPr>
        <p:spPr>
          <a:xfrm>
            <a:off x="9985610" y="461736"/>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bg1">
                    <a:lumMod val="50000"/>
                  </a:schemeClr>
                </a:solidFill>
                <a:latin typeface="Book Antiqua" panose="02040602050305030304" pitchFamily="18" charset="0"/>
              </a:rPr>
              <a:t>Hardware</a:t>
            </a:r>
          </a:p>
        </p:txBody>
      </p:sp>
      <p:sp useBgFill="1">
        <p:nvSpPr>
          <p:cNvPr id="10" name="Ellipse 9">
            <a:extLst>
              <a:ext uri="{FF2B5EF4-FFF2-40B4-BE49-F238E27FC236}">
                <a16:creationId xmlns:a16="http://schemas.microsoft.com/office/drawing/2014/main" id="{991BDDF6-6749-0A3C-1B4D-820CD7BA7E16}"/>
              </a:ext>
            </a:extLst>
          </p:cNvPr>
          <p:cNvSpPr/>
          <p:nvPr/>
        </p:nvSpPr>
        <p:spPr>
          <a:xfrm>
            <a:off x="275228" y="309584"/>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rgbClr val="FFFFCC"/>
                </a:solidFill>
                <a:latin typeface="Book Antiqua" panose="02040602050305030304" pitchFamily="18" charset="0"/>
              </a:rPr>
              <a:t>Network and internet </a:t>
            </a:r>
          </a:p>
        </p:txBody>
      </p:sp>
      <p:sp useBgFill="1">
        <p:nvSpPr>
          <p:cNvPr id="12" name="Ellipse 11">
            <a:extLst>
              <a:ext uri="{FF2B5EF4-FFF2-40B4-BE49-F238E27FC236}">
                <a16:creationId xmlns:a16="http://schemas.microsoft.com/office/drawing/2014/main" id="{96E6151D-E574-C848-DC15-39543E5FBCE9}"/>
              </a:ext>
            </a:extLst>
          </p:cNvPr>
          <p:cNvSpPr/>
          <p:nvPr/>
        </p:nvSpPr>
        <p:spPr>
          <a:xfrm>
            <a:off x="9985610" y="2480482"/>
            <a:ext cx="1992576" cy="1897036"/>
          </a:xfrm>
          <a:prstGeom prst="ellipse">
            <a:avLst/>
          </a:prstGeom>
          <a:ln w="190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bg1">
                    <a:lumMod val="50000"/>
                  </a:schemeClr>
                </a:solidFill>
                <a:latin typeface="Book Antiqua" panose="02040602050305030304" pitchFamily="18" charset="0"/>
              </a:rPr>
              <a:t>software</a:t>
            </a:r>
          </a:p>
        </p:txBody>
      </p:sp>
      <p:sp>
        <p:nvSpPr>
          <p:cNvPr id="13" name="ZoneTexte 12">
            <a:extLst>
              <a:ext uri="{FF2B5EF4-FFF2-40B4-BE49-F238E27FC236}">
                <a16:creationId xmlns:a16="http://schemas.microsoft.com/office/drawing/2014/main" id="{54D1BA52-E4ED-0902-BFE4-FA5C0E809E7C}"/>
              </a:ext>
            </a:extLst>
          </p:cNvPr>
          <p:cNvSpPr txBox="1"/>
          <p:nvPr/>
        </p:nvSpPr>
        <p:spPr>
          <a:xfrm>
            <a:off x="1858369" y="1759981"/>
            <a:ext cx="8008961" cy="5093702"/>
          </a:xfrm>
          <a:prstGeom prst="rect">
            <a:avLst/>
          </a:prstGeom>
          <a:noFill/>
        </p:spPr>
        <p:txBody>
          <a:bodyPr wrap="square" rtlCol="0">
            <a:spAutoFit/>
          </a:bodyPr>
          <a:lstStyle/>
          <a:p>
            <a:pPr algn="ctr"/>
            <a:r>
              <a:rPr lang="en-GB" sz="2500" noProof="0" dirty="0">
                <a:solidFill>
                  <a:schemeClr val="bg1"/>
                </a:solidFill>
                <a:latin typeface="Book Antiqua" panose="02040602050305030304" pitchFamily="18" charset="0"/>
              </a:rPr>
              <a:t>ICT components enable digital communication, data management, and connectivity. </a:t>
            </a:r>
            <a:r>
              <a:rPr lang="en-GB" sz="2500" b="1" noProof="0" dirty="0">
                <a:solidFill>
                  <a:schemeClr val="bg1"/>
                </a:solidFill>
                <a:latin typeface="Book Antiqua" panose="02040602050305030304" pitchFamily="18" charset="0"/>
              </a:rPr>
              <a:t>Networks</a:t>
            </a:r>
            <a:r>
              <a:rPr lang="en-GB" sz="2500" noProof="0" dirty="0">
                <a:solidFill>
                  <a:schemeClr val="bg1"/>
                </a:solidFill>
                <a:latin typeface="Book Antiqua" panose="02040602050305030304" pitchFamily="18" charset="0"/>
              </a:rPr>
              <a:t> (Internet, LAN, WAN, intranets/extranets) connect devices and support information exchange. </a:t>
            </a:r>
            <a:r>
              <a:rPr lang="en-GB" sz="2500" b="1" noProof="0" dirty="0">
                <a:solidFill>
                  <a:schemeClr val="bg1"/>
                </a:solidFill>
                <a:latin typeface="Book Antiqua" panose="02040602050305030304" pitchFamily="18" charset="0"/>
              </a:rPr>
              <a:t>Data management systems</a:t>
            </a:r>
            <a:r>
              <a:rPr lang="en-GB" sz="2500" noProof="0" dirty="0">
                <a:solidFill>
                  <a:schemeClr val="bg1"/>
                </a:solidFill>
                <a:latin typeface="Book Antiqua" panose="02040602050305030304" pitchFamily="18" charset="0"/>
              </a:rPr>
              <a:t> (databases, data warehouses, cloud storage, big data) organize and </a:t>
            </a:r>
            <a:r>
              <a:rPr lang="en-GB" sz="2500" noProof="0" dirty="0" err="1">
                <a:solidFill>
                  <a:schemeClr val="bg1"/>
                </a:solidFill>
                <a:latin typeface="Book Antiqua" panose="02040602050305030304" pitchFamily="18" charset="0"/>
              </a:rPr>
              <a:t>analyze</a:t>
            </a:r>
            <a:r>
              <a:rPr lang="en-GB" sz="2500" noProof="0" dirty="0">
                <a:solidFill>
                  <a:schemeClr val="bg1"/>
                </a:solidFill>
                <a:latin typeface="Book Antiqua" panose="02040602050305030304" pitchFamily="18" charset="0"/>
              </a:rPr>
              <a:t> information. </a:t>
            </a:r>
            <a:r>
              <a:rPr lang="en-GB" sz="2500" b="1" noProof="0" dirty="0">
                <a:solidFill>
                  <a:schemeClr val="bg1"/>
                </a:solidFill>
                <a:latin typeface="Book Antiqua" panose="02040602050305030304" pitchFamily="18" charset="0"/>
              </a:rPr>
              <a:t>Telecommunications</a:t>
            </a:r>
            <a:r>
              <a:rPr lang="en-GB" sz="2500" noProof="0" dirty="0">
                <a:solidFill>
                  <a:schemeClr val="bg1"/>
                </a:solidFill>
                <a:latin typeface="Book Antiqua" panose="02040602050305030304" pitchFamily="18" charset="0"/>
              </a:rPr>
              <a:t> and </a:t>
            </a:r>
            <a:r>
              <a:rPr lang="en-GB" sz="2500" b="1" noProof="0" dirty="0">
                <a:solidFill>
                  <a:schemeClr val="bg1"/>
                </a:solidFill>
                <a:latin typeface="Book Antiqua" panose="02040602050305030304" pitchFamily="18" charset="0"/>
              </a:rPr>
              <a:t>IoT</a:t>
            </a:r>
            <a:r>
              <a:rPr lang="en-GB" sz="2500" noProof="0" dirty="0">
                <a:solidFill>
                  <a:schemeClr val="bg1"/>
                </a:solidFill>
                <a:latin typeface="Book Antiqua" panose="02040602050305030304" pitchFamily="18" charset="0"/>
              </a:rPr>
              <a:t> connect people and smart devices for real-time communication and automation. </a:t>
            </a:r>
            <a:r>
              <a:rPr lang="en-GB" sz="2500" b="1" noProof="0" dirty="0">
                <a:solidFill>
                  <a:schemeClr val="bg1"/>
                </a:solidFill>
                <a:latin typeface="Book Antiqua" panose="02040602050305030304" pitchFamily="18" charset="0"/>
              </a:rPr>
              <a:t>People</a:t>
            </a:r>
            <a:r>
              <a:rPr lang="en-GB" sz="2500" noProof="0" dirty="0">
                <a:solidFill>
                  <a:schemeClr val="bg1"/>
                </a:solidFill>
                <a:latin typeface="Book Antiqua" panose="02040602050305030304" pitchFamily="18" charset="0"/>
              </a:rPr>
              <a:t> (users, IT professionals, support staff) operate and maintain ICT systems. </a:t>
            </a:r>
            <a:r>
              <a:rPr lang="en-GB" sz="2500" b="1" noProof="0" dirty="0">
                <a:solidFill>
                  <a:schemeClr val="bg1"/>
                </a:solidFill>
                <a:latin typeface="Book Antiqua" panose="02040602050305030304" pitchFamily="18" charset="0"/>
              </a:rPr>
              <a:t>Procedures and policies</a:t>
            </a:r>
            <a:r>
              <a:rPr lang="en-GB" sz="2500" noProof="0" dirty="0">
                <a:solidFill>
                  <a:schemeClr val="bg1"/>
                </a:solidFill>
                <a:latin typeface="Book Antiqua" panose="02040602050305030304" pitchFamily="18" charset="0"/>
              </a:rPr>
              <a:t> ensure security, reliability, and ethical use of technology. Together, these components form the backbone of modern digital infrastructure.</a:t>
            </a:r>
          </a:p>
        </p:txBody>
      </p:sp>
    </p:spTree>
    <p:extLst>
      <p:ext uri="{BB962C8B-B14F-4D97-AF65-F5344CB8AC3E}">
        <p14:creationId xmlns:p14="http://schemas.microsoft.com/office/powerpoint/2010/main" val="3857942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AA1A1EBB-F407-033B-228C-486BECED4570}"/>
            </a:ext>
          </a:extLst>
        </p:cNvPr>
        <p:cNvGrpSpPr/>
        <p:nvPr/>
      </p:nvGrpSpPr>
      <p:grpSpPr>
        <a:xfrm>
          <a:off x="0" y="0"/>
          <a:ext cx="0" cy="0"/>
          <a:chOff x="0" y="0"/>
          <a:chExt cx="0" cy="0"/>
        </a:xfrm>
      </p:grpSpPr>
      <p:pic>
        <p:nvPicPr>
          <p:cNvPr id="3076" name="Picture 4" descr="‪Technology background Images - Free Download on Freepik‬‏">
            <a:extLst>
              <a:ext uri="{FF2B5EF4-FFF2-40B4-BE49-F238E27FC236}">
                <a16:creationId xmlns:a16="http://schemas.microsoft.com/office/drawing/2014/main" id="{94CE04D6-C775-D3F1-E604-CE053502795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736" b="7736"/>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useBgFill="1">
        <p:nvSpPr>
          <p:cNvPr id="3" name="Ellipse 2">
            <a:extLst>
              <a:ext uri="{FF2B5EF4-FFF2-40B4-BE49-F238E27FC236}">
                <a16:creationId xmlns:a16="http://schemas.microsoft.com/office/drawing/2014/main" id="{AC338399-15C3-0B2D-CB45-12B4F088BB7B}"/>
              </a:ext>
            </a:extLst>
          </p:cNvPr>
          <p:cNvSpPr/>
          <p:nvPr/>
        </p:nvSpPr>
        <p:spPr>
          <a:xfrm>
            <a:off x="-4946753" y="1647668"/>
            <a:ext cx="4586989" cy="4783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Ellipse 5">
            <a:extLst>
              <a:ext uri="{FF2B5EF4-FFF2-40B4-BE49-F238E27FC236}">
                <a16:creationId xmlns:a16="http://schemas.microsoft.com/office/drawing/2014/main" id="{270F426B-A8E9-D452-A8E5-5799F032674A}"/>
              </a:ext>
            </a:extLst>
          </p:cNvPr>
          <p:cNvSpPr/>
          <p:nvPr/>
        </p:nvSpPr>
        <p:spPr>
          <a:xfrm>
            <a:off x="-4678933" y="7132452"/>
            <a:ext cx="7199285" cy="6858000"/>
          </a:xfrm>
          <a:prstGeom prst="ellipse">
            <a:avLst/>
          </a:prstGeom>
          <a:noFill/>
          <a:ln w="31750">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Ellipse 6">
            <a:extLst>
              <a:ext uri="{FF2B5EF4-FFF2-40B4-BE49-F238E27FC236}">
                <a16:creationId xmlns:a16="http://schemas.microsoft.com/office/drawing/2014/main" id="{2B603DC2-0C1F-2713-1320-C398D124C34B}"/>
              </a:ext>
            </a:extLst>
          </p:cNvPr>
          <p:cNvSpPr/>
          <p:nvPr/>
        </p:nvSpPr>
        <p:spPr>
          <a:xfrm>
            <a:off x="3067362" y="-778243"/>
            <a:ext cx="281066" cy="281066"/>
          </a:xfrm>
          <a:prstGeom prst="ellipse">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Ellipse 7">
            <a:extLst>
              <a:ext uri="{FF2B5EF4-FFF2-40B4-BE49-F238E27FC236}">
                <a16:creationId xmlns:a16="http://schemas.microsoft.com/office/drawing/2014/main" id="{B6E11703-FB40-5813-9135-474100748F5F}"/>
              </a:ext>
            </a:extLst>
          </p:cNvPr>
          <p:cNvSpPr/>
          <p:nvPr/>
        </p:nvSpPr>
        <p:spPr>
          <a:xfrm>
            <a:off x="6469506" y="-555518"/>
            <a:ext cx="281066" cy="281066"/>
          </a:xfrm>
          <a:prstGeom prst="ellipse">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ZoneTexte 8">
            <a:extLst>
              <a:ext uri="{FF2B5EF4-FFF2-40B4-BE49-F238E27FC236}">
                <a16:creationId xmlns:a16="http://schemas.microsoft.com/office/drawing/2014/main" id="{855F93B1-AA1B-8606-9D29-13024EE5EF7B}"/>
              </a:ext>
            </a:extLst>
          </p:cNvPr>
          <p:cNvSpPr txBox="1"/>
          <p:nvPr/>
        </p:nvSpPr>
        <p:spPr>
          <a:xfrm>
            <a:off x="9533747" y="8022236"/>
            <a:ext cx="5531370" cy="2246769"/>
          </a:xfrm>
          <a:prstGeom prst="rect">
            <a:avLst/>
          </a:prstGeom>
          <a:noFill/>
        </p:spPr>
        <p:txBody>
          <a:bodyPr wrap="square" rtlCol="0">
            <a:spAutoFit/>
          </a:bodyPr>
          <a:lstStyle/>
          <a:p>
            <a:r>
              <a:rPr lang="en-GB" sz="2000" noProof="0" dirty="0">
                <a:solidFill>
                  <a:schemeClr val="bg1"/>
                </a:solidFill>
                <a:latin typeface="Book Antiqua" panose="02040602050305030304" pitchFamily="18" charset="0"/>
              </a:rPr>
              <a:t>ICT refers to all technologies used to create, process, store, transmit, and retrieve digital information. It combines computing tools and telecommunications systems to improve access to information and enable effective communication across various fields such as education, business, and healthcare.</a:t>
            </a:r>
          </a:p>
        </p:txBody>
      </p:sp>
      <p:sp>
        <p:nvSpPr>
          <p:cNvPr id="10" name="ZoneTexte 9">
            <a:extLst>
              <a:ext uri="{FF2B5EF4-FFF2-40B4-BE49-F238E27FC236}">
                <a16:creationId xmlns:a16="http://schemas.microsoft.com/office/drawing/2014/main" id="{0E5A5E33-2094-016A-6440-40C9FF81960F}"/>
              </a:ext>
            </a:extLst>
          </p:cNvPr>
          <p:cNvSpPr txBox="1"/>
          <p:nvPr/>
        </p:nvSpPr>
        <p:spPr>
          <a:xfrm>
            <a:off x="-3342804" y="3289715"/>
            <a:ext cx="2263514" cy="630942"/>
          </a:xfrm>
          <a:prstGeom prst="rect">
            <a:avLst/>
          </a:prstGeom>
          <a:noFill/>
        </p:spPr>
        <p:txBody>
          <a:bodyPr wrap="square" rtlCol="0">
            <a:spAutoFit/>
          </a:bodyPr>
          <a:lstStyle/>
          <a:p>
            <a:r>
              <a:rPr lang="en-GB" sz="3500" noProof="0" dirty="0">
                <a:solidFill>
                  <a:schemeClr val="bg1"/>
                </a:solidFill>
                <a:latin typeface="Book Antiqua" panose="02040602050305030304" pitchFamily="18" charset="0"/>
              </a:rPr>
              <a:t>Definition </a:t>
            </a:r>
          </a:p>
        </p:txBody>
      </p:sp>
      <p:sp>
        <p:nvSpPr>
          <p:cNvPr id="2" name="ZoneTexte 1">
            <a:extLst>
              <a:ext uri="{FF2B5EF4-FFF2-40B4-BE49-F238E27FC236}">
                <a16:creationId xmlns:a16="http://schemas.microsoft.com/office/drawing/2014/main" id="{48EAF1EA-876F-C624-49FB-33F6EE28B9F2}"/>
              </a:ext>
            </a:extLst>
          </p:cNvPr>
          <p:cNvSpPr txBox="1"/>
          <p:nvPr/>
        </p:nvSpPr>
        <p:spPr>
          <a:xfrm>
            <a:off x="204716" y="1544656"/>
            <a:ext cx="11782567" cy="2862322"/>
          </a:xfrm>
          <a:prstGeom prst="rect">
            <a:avLst/>
          </a:prstGeom>
          <a:noFill/>
        </p:spPr>
        <p:txBody>
          <a:bodyPr wrap="square" rtlCol="0">
            <a:spAutoFit/>
          </a:bodyPr>
          <a:lstStyle/>
          <a:p>
            <a:pPr algn="ctr"/>
            <a:r>
              <a:rPr lang="en-GB" sz="9000" noProof="0" dirty="0">
                <a:solidFill>
                  <a:srgbClr val="FFFFCC"/>
                </a:solidFill>
                <a:latin typeface="Book Antiqua" panose="02040602050305030304" pitchFamily="18" charset="0"/>
              </a:rPr>
              <a:t>Technologies related to TIC</a:t>
            </a:r>
          </a:p>
        </p:txBody>
      </p:sp>
      <p:sp>
        <p:nvSpPr>
          <p:cNvPr id="4" name="Forme libre : forme 3">
            <a:extLst>
              <a:ext uri="{FF2B5EF4-FFF2-40B4-BE49-F238E27FC236}">
                <a16:creationId xmlns:a16="http://schemas.microsoft.com/office/drawing/2014/main" id="{0FD6F0A0-C881-FE48-C297-2D041DBAC514}"/>
              </a:ext>
            </a:extLst>
          </p:cNvPr>
          <p:cNvSpPr/>
          <p:nvPr/>
        </p:nvSpPr>
        <p:spPr>
          <a:xfrm>
            <a:off x="-6072844" y="3415779"/>
            <a:ext cx="204716" cy="3588526"/>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5" name="ZoneTexte 4">
            <a:extLst>
              <a:ext uri="{FF2B5EF4-FFF2-40B4-BE49-F238E27FC236}">
                <a16:creationId xmlns:a16="http://schemas.microsoft.com/office/drawing/2014/main" id="{1C4257A2-96C1-D3FB-D54C-11995A32B7F1}"/>
              </a:ext>
            </a:extLst>
          </p:cNvPr>
          <p:cNvSpPr txBox="1"/>
          <p:nvPr/>
        </p:nvSpPr>
        <p:spPr>
          <a:xfrm>
            <a:off x="-1687453" y="1702941"/>
            <a:ext cx="45719" cy="4093428"/>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13000" dirty="0">
                <a:solidFill>
                  <a:schemeClr val="bg1">
                    <a:alpha val="20000"/>
                  </a:schemeClr>
                </a:solidFill>
                <a:latin typeface="Gill Sans Ultra Bold Condensed" panose="020B0A06020104020203" pitchFamily="34" charset="0"/>
              </a:rPr>
              <a:t>01</a:t>
            </a:r>
            <a:endParaRPr lang="fr-FR" sz="13000" dirty="0">
              <a:solidFill>
                <a:schemeClr val="bg1">
                  <a:alpha val="20000"/>
                </a:schemeClr>
              </a:solidFill>
              <a:latin typeface="Gill Sans Ultra Bold Condensed" panose="020B0A06020104020203" pitchFamily="34" charset="0"/>
            </a:endParaRPr>
          </a:p>
        </p:txBody>
      </p:sp>
      <p:sp>
        <p:nvSpPr>
          <p:cNvPr id="11" name="ZoneTexte 10">
            <a:extLst>
              <a:ext uri="{FF2B5EF4-FFF2-40B4-BE49-F238E27FC236}">
                <a16:creationId xmlns:a16="http://schemas.microsoft.com/office/drawing/2014/main" id="{C9B029F9-11DE-BB18-232E-75036AC10FB2}"/>
              </a:ext>
            </a:extLst>
          </p:cNvPr>
          <p:cNvSpPr txBox="1"/>
          <p:nvPr/>
        </p:nvSpPr>
        <p:spPr>
          <a:xfrm>
            <a:off x="-3192486" y="3429000"/>
            <a:ext cx="92728" cy="13018949"/>
          </a:xfrm>
          <a:prstGeom prst="rect">
            <a:avLst/>
          </a:prstGeom>
          <a:noFill/>
        </p:spPr>
        <p:txBody>
          <a:bodyPr wrap="square" rtlCol="0">
            <a:spAutoFit/>
          </a:bodyPr>
          <a:lstStyle/>
          <a:p>
            <a:pPr algn="ctr"/>
            <a:r>
              <a:rPr lang="en-GB" sz="4000" b="1" dirty="0">
                <a:solidFill>
                  <a:srgbClr val="FFFFCC"/>
                </a:solidFill>
                <a:latin typeface="Book Antiqua" panose="02040602050305030304" pitchFamily="18" charset="0"/>
              </a:rPr>
              <a:t>Types of Google Services</a:t>
            </a:r>
            <a:endParaRPr lang="fr-FR" sz="4000" dirty="0">
              <a:solidFill>
                <a:srgbClr val="FFFFCC"/>
              </a:solidFill>
            </a:endParaRPr>
          </a:p>
        </p:txBody>
      </p:sp>
    </p:spTree>
    <p:extLst>
      <p:ext uri="{BB962C8B-B14F-4D97-AF65-F5344CB8AC3E}">
        <p14:creationId xmlns:p14="http://schemas.microsoft.com/office/powerpoint/2010/main" val="42365306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4894DD8-C745-F73D-7E7B-023BDC737860}"/>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497E27D1-36D1-263E-1750-5D85646F813A}"/>
              </a:ext>
            </a:extLst>
          </p:cNvPr>
          <p:cNvSpPr/>
          <p:nvPr/>
        </p:nvSpPr>
        <p:spPr>
          <a:xfrm>
            <a:off x="0" y="20241"/>
            <a:ext cx="11469757" cy="6858000"/>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 name="ZoneTexte 1">
            <a:extLst>
              <a:ext uri="{FF2B5EF4-FFF2-40B4-BE49-F238E27FC236}">
                <a16:creationId xmlns:a16="http://schemas.microsoft.com/office/drawing/2014/main" id="{3B89A693-AB7F-C681-A30E-35D3CA53F62E}"/>
              </a:ext>
            </a:extLst>
          </p:cNvPr>
          <p:cNvSpPr txBox="1"/>
          <p:nvPr/>
        </p:nvSpPr>
        <p:spPr>
          <a:xfrm>
            <a:off x="4385392" y="579120"/>
            <a:ext cx="2185283" cy="2092881"/>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13000" dirty="0">
                <a:solidFill>
                  <a:schemeClr val="bg1">
                    <a:alpha val="20000"/>
                  </a:schemeClr>
                </a:solidFill>
                <a:latin typeface="Gill Sans Ultra Bold Condensed" panose="020B0A06020104020203" pitchFamily="34" charset="0"/>
              </a:rPr>
              <a:t>01</a:t>
            </a:r>
            <a:endParaRPr lang="fr-FR" sz="13000" dirty="0">
              <a:solidFill>
                <a:schemeClr val="bg1">
                  <a:alpha val="20000"/>
                </a:schemeClr>
              </a:solidFill>
              <a:latin typeface="Gill Sans Ultra Bold Condensed" panose="020B0A06020104020203" pitchFamily="34" charset="0"/>
            </a:endParaRPr>
          </a:p>
        </p:txBody>
      </p:sp>
      <p:sp>
        <p:nvSpPr>
          <p:cNvPr id="5" name="ZoneTexte 4">
            <a:extLst>
              <a:ext uri="{FF2B5EF4-FFF2-40B4-BE49-F238E27FC236}">
                <a16:creationId xmlns:a16="http://schemas.microsoft.com/office/drawing/2014/main" id="{36EE3647-EF9B-CE16-45EC-5E8964D99BA4}"/>
              </a:ext>
            </a:extLst>
          </p:cNvPr>
          <p:cNvSpPr txBox="1"/>
          <p:nvPr/>
        </p:nvSpPr>
        <p:spPr>
          <a:xfrm>
            <a:off x="2880358" y="2672001"/>
            <a:ext cx="5195349" cy="1323439"/>
          </a:xfrm>
          <a:prstGeom prst="rect">
            <a:avLst/>
          </a:prstGeom>
          <a:noFill/>
        </p:spPr>
        <p:txBody>
          <a:bodyPr wrap="square" rtlCol="0">
            <a:spAutoFit/>
          </a:bodyPr>
          <a:lstStyle/>
          <a:p>
            <a:pPr algn="ctr"/>
            <a:r>
              <a:rPr lang="en-GB" sz="4000" b="1" dirty="0">
                <a:solidFill>
                  <a:srgbClr val="FFFFCC"/>
                </a:solidFill>
                <a:latin typeface="Book Antiqua" panose="02040602050305030304" pitchFamily="18" charset="0"/>
              </a:rPr>
              <a:t>Types of Google Services</a:t>
            </a:r>
            <a:endParaRPr lang="fr-FR" sz="4000" dirty="0">
              <a:solidFill>
                <a:srgbClr val="FFFFCC"/>
              </a:solidFill>
            </a:endParaRPr>
          </a:p>
        </p:txBody>
      </p:sp>
    </p:spTree>
    <p:extLst>
      <p:ext uri="{BB962C8B-B14F-4D97-AF65-F5344CB8AC3E}">
        <p14:creationId xmlns:p14="http://schemas.microsoft.com/office/powerpoint/2010/main" val="9197903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C30DDF0-000B-3DFD-B411-988A75A5E24A}"/>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A717455F-DC31-E82B-C217-5C04B2E5D2F8}"/>
              </a:ext>
            </a:extLst>
          </p:cNvPr>
          <p:cNvSpPr/>
          <p:nvPr/>
        </p:nvSpPr>
        <p:spPr>
          <a:xfrm>
            <a:off x="0" y="0"/>
            <a:ext cx="11469757" cy="6858000"/>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 name="ZoneTexte 1">
            <a:extLst>
              <a:ext uri="{FF2B5EF4-FFF2-40B4-BE49-F238E27FC236}">
                <a16:creationId xmlns:a16="http://schemas.microsoft.com/office/drawing/2014/main" id="{3EB2E134-3C85-944A-30FE-BA4F636A2D2F}"/>
              </a:ext>
            </a:extLst>
          </p:cNvPr>
          <p:cNvSpPr txBox="1"/>
          <p:nvPr/>
        </p:nvSpPr>
        <p:spPr>
          <a:xfrm>
            <a:off x="8377528" y="579120"/>
            <a:ext cx="2185283" cy="2092881"/>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13000" dirty="0">
                <a:solidFill>
                  <a:schemeClr val="bg1">
                    <a:alpha val="20000"/>
                  </a:schemeClr>
                </a:solidFill>
                <a:latin typeface="Gill Sans Ultra Bold Condensed" panose="020B0A06020104020203" pitchFamily="34" charset="0"/>
              </a:rPr>
              <a:t>01</a:t>
            </a:r>
            <a:endParaRPr lang="fr-FR" sz="13000" dirty="0">
              <a:solidFill>
                <a:schemeClr val="bg1">
                  <a:alpha val="20000"/>
                </a:schemeClr>
              </a:solidFill>
              <a:latin typeface="Gill Sans Ultra Bold Condensed" panose="020B0A06020104020203" pitchFamily="34" charset="0"/>
            </a:endParaRPr>
          </a:p>
        </p:txBody>
      </p:sp>
      <p:sp>
        <p:nvSpPr>
          <p:cNvPr id="4" name="ZoneTexte 3">
            <a:extLst>
              <a:ext uri="{FF2B5EF4-FFF2-40B4-BE49-F238E27FC236}">
                <a16:creationId xmlns:a16="http://schemas.microsoft.com/office/drawing/2014/main" id="{96202D42-FF33-3E56-CB07-DC4AA21C4AF3}"/>
              </a:ext>
            </a:extLst>
          </p:cNvPr>
          <p:cNvSpPr txBox="1"/>
          <p:nvPr/>
        </p:nvSpPr>
        <p:spPr>
          <a:xfrm>
            <a:off x="1251172" y="2435513"/>
            <a:ext cx="7630184" cy="1877437"/>
          </a:xfrm>
          <a:prstGeom prst="rect">
            <a:avLst/>
          </a:prstGeom>
          <a:noFill/>
        </p:spPr>
        <p:txBody>
          <a:bodyPr wrap="square" rtlCol="0">
            <a:spAutoFit/>
          </a:bodyPr>
          <a:lstStyle/>
          <a:p>
            <a:pPr algn="ctr"/>
            <a:r>
              <a:rPr lang="en-GB" sz="2400" b="1" dirty="0">
                <a:solidFill>
                  <a:srgbClr val="FFFFCC"/>
                </a:solidFill>
                <a:latin typeface="Book Antiqua" panose="02040602050305030304" pitchFamily="18" charset="0"/>
              </a:rPr>
              <a:t>Google Services</a:t>
            </a:r>
            <a:r>
              <a:rPr lang="en-GB" sz="2400" dirty="0">
                <a:solidFill>
                  <a:srgbClr val="FFFFCC"/>
                </a:solidFill>
                <a:latin typeface="Book Antiqua" panose="02040602050305030304" pitchFamily="18" charset="0"/>
              </a:rPr>
              <a:t> </a:t>
            </a:r>
            <a:r>
              <a:rPr lang="en-GB" sz="2400" dirty="0">
                <a:solidFill>
                  <a:schemeClr val="bg1"/>
                </a:solidFill>
                <a:latin typeface="Book Antiqua" panose="02040602050305030304" pitchFamily="18" charset="0"/>
              </a:rPr>
              <a:t>refers to the comprehensive and integrated suite of applications, platforms, and products developed and provided by Google (Google LLC and its affiliates).</a:t>
            </a:r>
          </a:p>
          <a:p>
            <a:pPr algn="ctr"/>
            <a:endParaRPr lang="fr-FR" sz="2000" dirty="0">
              <a:solidFill>
                <a:srgbClr val="FFFFCC"/>
              </a:solidFill>
              <a:latin typeface="Book Antiqua" panose="02040602050305030304" pitchFamily="18" charset="0"/>
            </a:endParaRPr>
          </a:p>
        </p:txBody>
      </p:sp>
      <p:sp>
        <p:nvSpPr>
          <p:cNvPr id="5" name="ZoneTexte 4">
            <a:extLst>
              <a:ext uri="{FF2B5EF4-FFF2-40B4-BE49-F238E27FC236}">
                <a16:creationId xmlns:a16="http://schemas.microsoft.com/office/drawing/2014/main" id="{E80F5FCB-949B-DD71-94D6-700589388BCB}"/>
              </a:ext>
            </a:extLst>
          </p:cNvPr>
          <p:cNvSpPr txBox="1"/>
          <p:nvPr/>
        </p:nvSpPr>
        <p:spPr>
          <a:xfrm>
            <a:off x="3168576" y="271344"/>
            <a:ext cx="4173518" cy="630942"/>
          </a:xfrm>
          <a:prstGeom prst="rect">
            <a:avLst/>
          </a:prstGeom>
          <a:noFill/>
        </p:spPr>
        <p:txBody>
          <a:bodyPr wrap="square" rtlCol="0">
            <a:spAutoFit/>
          </a:bodyPr>
          <a:lstStyle/>
          <a:p>
            <a:pPr algn="ctr"/>
            <a:r>
              <a:rPr lang="en-GB" sz="3500" b="1" dirty="0">
                <a:solidFill>
                  <a:srgbClr val="FFFFCC"/>
                </a:solidFill>
                <a:latin typeface="Book Antiqua" panose="02040602050305030304" pitchFamily="18" charset="0"/>
              </a:rPr>
              <a:t>Google Services</a:t>
            </a:r>
            <a:endParaRPr lang="fr-FR" sz="3500" dirty="0">
              <a:solidFill>
                <a:srgbClr val="FFFFCC"/>
              </a:solidFill>
            </a:endParaRPr>
          </a:p>
        </p:txBody>
      </p:sp>
      <p:pic>
        <p:nvPicPr>
          <p:cNvPr id="6146" name="Picture 2" descr="‪Google Play Services | Logopedia | Fandom‬‏">
            <a:extLst>
              <a:ext uri="{FF2B5EF4-FFF2-40B4-BE49-F238E27FC236}">
                <a16:creationId xmlns:a16="http://schemas.microsoft.com/office/drawing/2014/main" id="{05C154F3-1D30-4AED-0757-383A4F9476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9002" y="2531095"/>
            <a:ext cx="1606163" cy="144005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 coins arrondis 6">
            <a:extLst>
              <a:ext uri="{FF2B5EF4-FFF2-40B4-BE49-F238E27FC236}">
                <a16:creationId xmlns:a16="http://schemas.microsoft.com/office/drawing/2014/main" id="{002CB05F-DB48-A0C6-062F-9201F1A454EB}"/>
              </a:ext>
            </a:extLst>
          </p:cNvPr>
          <p:cNvSpPr/>
          <p:nvPr/>
        </p:nvSpPr>
        <p:spPr>
          <a:xfrm flipV="1">
            <a:off x="-709652" y="3251120"/>
            <a:ext cx="168132" cy="45719"/>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209129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3CBB65B-699A-818E-8C33-4E88AC425828}"/>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F6F9F230-61AC-B8E3-9577-F1100910AB0B}"/>
              </a:ext>
            </a:extLst>
          </p:cNvPr>
          <p:cNvSpPr/>
          <p:nvPr/>
        </p:nvSpPr>
        <p:spPr>
          <a:xfrm>
            <a:off x="0" y="0"/>
            <a:ext cx="11469757" cy="6858000"/>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 name="ZoneTexte 1">
            <a:extLst>
              <a:ext uri="{FF2B5EF4-FFF2-40B4-BE49-F238E27FC236}">
                <a16:creationId xmlns:a16="http://schemas.microsoft.com/office/drawing/2014/main" id="{ECA2A8D5-54BA-0833-A9DE-4BBFF82C2713}"/>
              </a:ext>
            </a:extLst>
          </p:cNvPr>
          <p:cNvSpPr txBox="1"/>
          <p:nvPr/>
        </p:nvSpPr>
        <p:spPr>
          <a:xfrm>
            <a:off x="10482424" y="3644153"/>
            <a:ext cx="1329608" cy="861774"/>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5000" dirty="0">
                <a:solidFill>
                  <a:schemeClr val="bg1">
                    <a:alpha val="20000"/>
                  </a:schemeClr>
                </a:solidFill>
                <a:latin typeface="Gill Sans Ultra Bold Condensed" panose="020B0A06020104020203" pitchFamily="34" charset="0"/>
              </a:rPr>
              <a:t>01</a:t>
            </a:r>
            <a:endParaRPr lang="fr-FR" sz="5000" dirty="0">
              <a:solidFill>
                <a:schemeClr val="bg1">
                  <a:alpha val="20000"/>
                </a:schemeClr>
              </a:solidFill>
              <a:latin typeface="Gill Sans Ultra Bold Condensed" panose="020B0A06020104020203" pitchFamily="34" charset="0"/>
            </a:endParaRPr>
          </a:p>
        </p:txBody>
      </p:sp>
      <p:sp>
        <p:nvSpPr>
          <p:cNvPr id="11" name="Rectangle : coins arrondis 10">
            <a:extLst>
              <a:ext uri="{FF2B5EF4-FFF2-40B4-BE49-F238E27FC236}">
                <a16:creationId xmlns:a16="http://schemas.microsoft.com/office/drawing/2014/main" id="{A3A44E53-977A-EEE3-96AD-F573277D8730}"/>
              </a:ext>
            </a:extLst>
          </p:cNvPr>
          <p:cNvSpPr/>
          <p:nvPr/>
        </p:nvSpPr>
        <p:spPr>
          <a:xfrm>
            <a:off x="274320" y="1675417"/>
            <a:ext cx="2026920" cy="2951448"/>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74CE78B1-DEA0-2323-7E8F-761500343797}"/>
              </a:ext>
            </a:extLst>
          </p:cNvPr>
          <p:cNvSpPr txBox="1"/>
          <p:nvPr/>
        </p:nvSpPr>
        <p:spPr>
          <a:xfrm>
            <a:off x="560192" y="1780002"/>
            <a:ext cx="1455175" cy="1477328"/>
          </a:xfrm>
          <a:prstGeom prst="rect">
            <a:avLst/>
          </a:prstGeom>
          <a:noFill/>
        </p:spPr>
        <p:txBody>
          <a:bodyPr wrap="square" rtlCol="0">
            <a:spAutoFit/>
          </a:bodyPr>
          <a:lstStyle/>
          <a:p>
            <a:pPr algn="ctr"/>
            <a:r>
              <a:rPr lang="en-GB" b="1" dirty="0">
                <a:solidFill>
                  <a:srgbClr val="FFFFCC"/>
                </a:solidFill>
                <a:latin typeface="Book Antiqua" panose="02040602050305030304" pitchFamily="18" charset="0"/>
              </a:rPr>
              <a:t>Google Search:</a:t>
            </a:r>
            <a:r>
              <a:rPr lang="en-GB" dirty="0">
                <a:solidFill>
                  <a:srgbClr val="FFFFCC"/>
                </a:solidFill>
                <a:latin typeface="Book Antiqua" panose="02040602050305030304" pitchFamily="18" charset="0"/>
              </a:rPr>
              <a:t> </a:t>
            </a:r>
          </a:p>
          <a:p>
            <a:pPr algn="ctr"/>
            <a:r>
              <a:rPr lang="en-GB" dirty="0">
                <a:solidFill>
                  <a:srgbClr val="002060"/>
                </a:solidFill>
                <a:latin typeface="Book Antiqua" panose="02040602050305030304" pitchFamily="18" charset="0"/>
              </a:rPr>
              <a:t>The primary web search engine</a:t>
            </a:r>
            <a:endParaRPr lang="fr-FR" dirty="0">
              <a:solidFill>
                <a:srgbClr val="002060"/>
              </a:solidFill>
            </a:endParaRPr>
          </a:p>
        </p:txBody>
      </p:sp>
      <p:pic>
        <p:nvPicPr>
          <p:cNvPr id="5" name="Picture 2" descr="‪How to use Google to search‬‏">
            <a:extLst>
              <a:ext uri="{FF2B5EF4-FFF2-40B4-BE49-F238E27FC236}">
                <a16:creationId xmlns:a16="http://schemas.microsoft.com/office/drawing/2014/main" id="{A05B585E-5DDE-F516-D1E4-755F5D3770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595" y="3429000"/>
            <a:ext cx="1344698" cy="77229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 coins arrondis 6">
            <a:extLst>
              <a:ext uri="{FF2B5EF4-FFF2-40B4-BE49-F238E27FC236}">
                <a16:creationId xmlns:a16="http://schemas.microsoft.com/office/drawing/2014/main" id="{FE5D42FA-CDD5-CE0A-BD4E-406B6C676D67}"/>
              </a:ext>
            </a:extLst>
          </p:cNvPr>
          <p:cNvSpPr/>
          <p:nvPr/>
        </p:nvSpPr>
        <p:spPr>
          <a:xfrm flipV="1">
            <a:off x="-679788" y="802116"/>
            <a:ext cx="178343" cy="122116"/>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145147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A38ED5B6-A686-17F2-E170-4AC5C83D6132}"/>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431A9F73-B08D-EB6F-24C2-3ACC6AF568A2}"/>
              </a:ext>
            </a:extLst>
          </p:cNvPr>
          <p:cNvSpPr/>
          <p:nvPr/>
        </p:nvSpPr>
        <p:spPr>
          <a:xfrm>
            <a:off x="0" y="0"/>
            <a:ext cx="11469757" cy="6858000"/>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 name="ZoneTexte 1">
            <a:extLst>
              <a:ext uri="{FF2B5EF4-FFF2-40B4-BE49-F238E27FC236}">
                <a16:creationId xmlns:a16="http://schemas.microsoft.com/office/drawing/2014/main" id="{6118366E-4537-1E26-57B1-E36FBB8DCDE3}"/>
              </a:ext>
            </a:extLst>
          </p:cNvPr>
          <p:cNvSpPr txBox="1"/>
          <p:nvPr/>
        </p:nvSpPr>
        <p:spPr>
          <a:xfrm>
            <a:off x="10414469" y="3582407"/>
            <a:ext cx="1329608" cy="861774"/>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5000" dirty="0">
                <a:solidFill>
                  <a:schemeClr val="bg1">
                    <a:alpha val="20000"/>
                  </a:schemeClr>
                </a:solidFill>
                <a:latin typeface="Gill Sans Ultra Bold Condensed" panose="020B0A06020104020203" pitchFamily="34" charset="0"/>
              </a:rPr>
              <a:t>01</a:t>
            </a:r>
            <a:endParaRPr lang="fr-FR" sz="5000" dirty="0">
              <a:solidFill>
                <a:schemeClr val="bg1">
                  <a:alpha val="20000"/>
                </a:schemeClr>
              </a:solidFill>
              <a:latin typeface="Gill Sans Ultra Bold Condensed" panose="020B0A06020104020203" pitchFamily="34" charset="0"/>
            </a:endParaRPr>
          </a:p>
        </p:txBody>
      </p:sp>
      <p:sp>
        <p:nvSpPr>
          <p:cNvPr id="11" name="Rectangle : coins arrondis 10">
            <a:extLst>
              <a:ext uri="{FF2B5EF4-FFF2-40B4-BE49-F238E27FC236}">
                <a16:creationId xmlns:a16="http://schemas.microsoft.com/office/drawing/2014/main" id="{F320F327-A5FF-0C08-31D0-469CA400154E}"/>
              </a:ext>
            </a:extLst>
          </p:cNvPr>
          <p:cNvSpPr/>
          <p:nvPr/>
        </p:nvSpPr>
        <p:spPr>
          <a:xfrm>
            <a:off x="274320" y="1675417"/>
            <a:ext cx="2026920" cy="2951448"/>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ZoneTexte 3">
            <a:extLst>
              <a:ext uri="{FF2B5EF4-FFF2-40B4-BE49-F238E27FC236}">
                <a16:creationId xmlns:a16="http://schemas.microsoft.com/office/drawing/2014/main" id="{5376E6FC-BD1E-A1CB-D305-EE6C975ABE7E}"/>
              </a:ext>
            </a:extLst>
          </p:cNvPr>
          <p:cNvSpPr txBox="1"/>
          <p:nvPr/>
        </p:nvSpPr>
        <p:spPr>
          <a:xfrm>
            <a:off x="560192" y="1780002"/>
            <a:ext cx="1455175" cy="1477328"/>
          </a:xfrm>
          <a:prstGeom prst="rect">
            <a:avLst/>
          </a:prstGeom>
          <a:noFill/>
        </p:spPr>
        <p:txBody>
          <a:bodyPr wrap="square" rtlCol="0">
            <a:spAutoFit/>
          </a:bodyPr>
          <a:lstStyle/>
          <a:p>
            <a:pPr algn="ctr"/>
            <a:r>
              <a:rPr lang="en-GB" b="1" dirty="0">
                <a:solidFill>
                  <a:srgbClr val="FFFFCC"/>
                </a:solidFill>
                <a:latin typeface="Book Antiqua" panose="02040602050305030304" pitchFamily="18" charset="0"/>
              </a:rPr>
              <a:t>Google Search:</a:t>
            </a:r>
            <a:r>
              <a:rPr lang="en-GB" dirty="0">
                <a:solidFill>
                  <a:srgbClr val="FFFFCC"/>
                </a:solidFill>
                <a:latin typeface="Book Antiqua" panose="02040602050305030304" pitchFamily="18" charset="0"/>
              </a:rPr>
              <a:t> </a:t>
            </a:r>
          </a:p>
          <a:p>
            <a:pPr algn="ctr"/>
            <a:r>
              <a:rPr lang="en-GB" dirty="0">
                <a:solidFill>
                  <a:srgbClr val="002060"/>
                </a:solidFill>
                <a:latin typeface="Book Antiqua" panose="02040602050305030304" pitchFamily="18" charset="0"/>
              </a:rPr>
              <a:t>The primary web search engine</a:t>
            </a:r>
            <a:endParaRPr lang="fr-FR" dirty="0">
              <a:solidFill>
                <a:srgbClr val="002060"/>
              </a:solidFill>
            </a:endParaRPr>
          </a:p>
        </p:txBody>
      </p:sp>
      <p:pic>
        <p:nvPicPr>
          <p:cNvPr id="5" name="Picture 2" descr="‪How to use Google to search‬‏">
            <a:extLst>
              <a:ext uri="{FF2B5EF4-FFF2-40B4-BE49-F238E27FC236}">
                <a16:creationId xmlns:a16="http://schemas.microsoft.com/office/drawing/2014/main" id="{4392881C-1830-E75E-34E9-14EDD43161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595" y="3429000"/>
            <a:ext cx="1344698" cy="77229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 coins arrondis 5">
            <a:extLst>
              <a:ext uri="{FF2B5EF4-FFF2-40B4-BE49-F238E27FC236}">
                <a16:creationId xmlns:a16="http://schemas.microsoft.com/office/drawing/2014/main" id="{A3378F56-3BFD-5AE2-DD58-EC153C2F7ABC}"/>
              </a:ext>
            </a:extLst>
          </p:cNvPr>
          <p:cNvSpPr/>
          <p:nvPr/>
        </p:nvSpPr>
        <p:spPr>
          <a:xfrm>
            <a:off x="2643515" y="1675417"/>
            <a:ext cx="2026920" cy="2951448"/>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3F7A5389-16AB-939A-AED0-01DEFC2E38B7}"/>
              </a:ext>
            </a:extLst>
          </p:cNvPr>
          <p:cNvSpPr txBox="1"/>
          <p:nvPr/>
        </p:nvSpPr>
        <p:spPr>
          <a:xfrm>
            <a:off x="2766169" y="1843202"/>
            <a:ext cx="1715877" cy="646331"/>
          </a:xfrm>
          <a:prstGeom prst="rect">
            <a:avLst/>
          </a:prstGeom>
          <a:noFill/>
        </p:spPr>
        <p:txBody>
          <a:bodyPr wrap="square" rtlCol="0">
            <a:spAutoFit/>
          </a:bodyPr>
          <a:lstStyle/>
          <a:p>
            <a:r>
              <a:rPr lang="en-GB" b="1" dirty="0">
                <a:solidFill>
                  <a:srgbClr val="FFFFCC"/>
                </a:solidFill>
                <a:latin typeface="Book Antiqua" panose="02040602050305030304" pitchFamily="18" charset="0"/>
              </a:rPr>
              <a:t>Gmail:</a:t>
            </a:r>
            <a:r>
              <a:rPr lang="en-GB" dirty="0">
                <a:solidFill>
                  <a:srgbClr val="FFFFCC"/>
                </a:solidFill>
                <a:latin typeface="Book Antiqua" panose="02040602050305030304" pitchFamily="18" charset="0"/>
              </a:rPr>
              <a:t> </a:t>
            </a:r>
            <a:r>
              <a:rPr lang="en-GB" dirty="0">
                <a:solidFill>
                  <a:srgbClr val="002060"/>
                </a:solidFill>
                <a:latin typeface="Book Antiqua" panose="02040602050305030304" pitchFamily="18" charset="0"/>
              </a:rPr>
              <a:t>Email service</a:t>
            </a:r>
            <a:endParaRPr lang="fr-FR" dirty="0">
              <a:solidFill>
                <a:srgbClr val="002060"/>
              </a:solidFill>
            </a:endParaRPr>
          </a:p>
        </p:txBody>
      </p:sp>
      <p:pic>
        <p:nvPicPr>
          <p:cNvPr id="8" name="Picture 2" descr="‪Check your Gmail inbox now! Google is changing everyone's email account |  Express.co.uk‬‏">
            <a:extLst>
              <a:ext uri="{FF2B5EF4-FFF2-40B4-BE49-F238E27FC236}">
                <a16:creationId xmlns:a16="http://schemas.microsoft.com/office/drawing/2014/main" id="{506A1481-668B-76C9-C7C7-9594129264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5450" y="3995994"/>
            <a:ext cx="756477" cy="448187"/>
          </a:xfrm>
          <a:prstGeom prst="rect">
            <a:avLst/>
          </a:prstGeom>
          <a:noFill/>
          <a:extLst>
            <a:ext uri="{909E8E84-426E-40DD-AFC4-6F175D3DCCD1}">
              <a14:hiddenFill xmlns:a14="http://schemas.microsoft.com/office/drawing/2010/main">
                <a:solidFill>
                  <a:srgbClr val="FFFFFF"/>
                </a:solidFill>
              </a14:hiddenFill>
            </a:ext>
          </a:extLst>
        </p:spPr>
      </p:pic>
      <p:sp>
        <p:nvSpPr>
          <p:cNvPr id="16" name="ZoneTexte 15">
            <a:extLst>
              <a:ext uri="{FF2B5EF4-FFF2-40B4-BE49-F238E27FC236}">
                <a16:creationId xmlns:a16="http://schemas.microsoft.com/office/drawing/2014/main" id="{24F978A8-7DE0-2D0E-4910-F256757894BA}"/>
              </a:ext>
            </a:extLst>
          </p:cNvPr>
          <p:cNvSpPr txBox="1"/>
          <p:nvPr/>
        </p:nvSpPr>
        <p:spPr>
          <a:xfrm>
            <a:off x="2694510" y="2518666"/>
            <a:ext cx="1969769" cy="1477328"/>
          </a:xfrm>
          <a:prstGeom prst="rect">
            <a:avLst/>
          </a:prstGeom>
          <a:noFill/>
        </p:spPr>
        <p:txBody>
          <a:bodyPr wrap="square">
            <a:spAutoFit/>
          </a:bodyPr>
          <a:lstStyle/>
          <a:p>
            <a:r>
              <a:rPr lang="en-GB" sz="1800" b="1" noProof="0" dirty="0">
                <a:solidFill>
                  <a:srgbClr val="FFFFCC"/>
                </a:solidFill>
              </a:rPr>
              <a:t>Google Maps/Earth:</a:t>
            </a:r>
            <a:r>
              <a:rPr lang="en-GB" sz="1800" noProof="0" dirty="0">
                <a:solidFill>
                  <a:srgbClr val="FFFFCC"/>
                </a:solidFill>
              </a:rPr>
              <a:t> </a:t>
            </a:r>
            <a:r>
              <a:rPr lang="en-GB" sz="1800" noProof="0" dirty="0">
                <a:solidFill>
                  <a:srgbClr val="002060"/>
                </a:solidFill>
              </a:rPr>
              <a:t>Mapping, navigation, and location services.</a:t>
            </a:r>
            <a:endParaRPr lang="fr-FR" dirty="0">
              <a:solidFill>
                <a:srgbClr val="002060"/>
              </a:solidFill>
            </a:endParaRPr>
          </a:p>
        </p:txBody>
      </p:sp>
      <p:pic>
        <p:nvPicPr>
          <p:cNvPr id="18" name="Picture 2" descr="‪Voyager intelligemment: 5 fonctionnalités cachées pour mieux profiter de Google  Maps | Swisscom Blog‬‏">
            <a:extLst>
              <a:ext uri="{FF2B5EF4-FFF2-40B4-BE49-F238E27FC236}">
                <a16:creationId xmlns:a16="http://schemas.microsoft.com/office/drawing/2014/main" id="{B4370195-AC3F-BA1B-4E44-0944DAF11D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2922" y="3938418"/>
            <a:ext cx="971843" cy="62699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2" name="Rectangle : coins arrondis 21">
            <a:extLst>
              <a:ext uri="{FF2B5EF4-FFF2-40B4-BE49-F238E27FC236}">
                <a16:creationId xmlns:a16="http://schemas.microsoft.com/office/drawing/2014/main" id="{B3361CCF-5E47-257B-B21B-26C000B8556D}"/>
              </a:ext>
            </a:extLst>
          </p:cNvPr>
          <p:cNvSpPr/>
          <p:nvPr/>
        </p:nvSpPr>
        <p:spPr>
          <a:xfrm>
            <a:off x="-653329" y="3367548"/>
            <a:ext cx="83058" cy="61452"/>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066339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15BA64B0-3E96-A24C-6FF6-2CAE765C136F}"/>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AD5AEDFF-4833-5FDD-21F8-EDCF5F7DDB7C}"/>
              </a:ext>
            </a:extLst>
          </p:cNvPr>
          <p:cNvSpPr/>
          <p:nvPr/>
        </p:nvSpPr>
        <p:spPr>
          <a:xfrm>
            <a:off x="0" y="0"/>
            <a:ext cx="11469757" cy="6858000"/>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 name="ZoneTexte 1">
            <a:extLst>
              <a:ext uri="{FF2B5EF4-FFF2-40B4-BE49-F238E27FC236}">
                <a16:creationId xmlns:a16="http://schemas.microsoft.com/office/drawing/2014/main" id="{D6E11C5E-BBBA-744F-D795-F016A81739A8}"/>
              </a:ext>
            </a:extLst>
          </p:cNvPr>
          <p:cNvSpPr txBox="1"/>
          <p:nvPr/>
        </p:nvSpPr>
        <p:spPr>
          <a:xfrm>
            <a:off x="10499430" y="3582407"/>
            <a:ext cx="1329608" cy="861774"/>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5000" dirty="0">
                <a:solidFill>
                  <a:schemeClr val="bg1">
                    <a:alpha val="20000"/>
                  </a:schemeClr>
                </a:solidFill>
                <a:latin typeface="Gill Sans Ultra Bold Condensed" panose="020B0A06020104020203" pitchFamily="34" charset="0"/>
              </a:rPr>
              <a:t>01</a:t>
            </a:r>
            <a:endParaRPr lang="fr-FR" sz="5000" dirty="0">
              <a:solidFill>
                <a:schemeClr val="bg1">
                  <a:alpha val="20000"/>
                </a:schemeClr>
              </a:solidFill>
              <a:latin typeface="Gill Sans Ultra Bold Condensed" panose="020B0A06020104020203" pitchFamily="34" charset="0"/>
            </a:endParaRPr>
          </a:p>
        </p:txBody>
      </p:sp>
      <p:sp>
        <p:nvSpPr>
          <p:cNvPr id="11" name="Rectangle : coins arrondis 10">
            <a:extLst>
              <a:ext uri="{FF2B5EF4-FFF2-40B4-BE49-F238E27FC236}">
                <a16:creationId xmlns:a16="http://schemas.microsoft.com/office/drawing/2014/main" id="{7095F7B8-9D4A-23C0-24BB-454266CE0A84}"/>
              </a:ext>
            </a:extLst>
          </p:cNvPr>
          <p:cNvSpPr/>
          <p:nvPr/>
        </p:nvSpPr>
        <p:spPr>
          <a:xfrm>
            <a:off x="274320" y="1675417"/>
            <a:ext cx="2026920" cy="2951448"/>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D9A13106-E6D2-A4A1-1054-4387AAF785FE}"/>
              </a:ext>
            </a:extLst>
          </p:cNvPr>
          <p:cNvSpPr txBox="1"/>
          <p:nvPr/>
        </p:nvSpPr>
        <p:spPr>
          <a:xfrm>
            <a:off x="560192" y="1780002"/>
            <a:ext cx="1455175" cy="1477328"/>
          </a:xfrm>
          <a:prstGeom prst="rect">
            <a:avLst/>
          </a:prstGeom>
          <a:noFill/>
        </p:spPr>
        <p:txBody>
          <a:bodyPr wrap="square" rtlCol="0">
            <a:spAutoFit/>
          </a:bodyPr>
          <a:lstStyle/>
          <a:p>
            <a:pPr algn="ctr"/>
            <a:r>
              <a:rPr lang="en-GB" b="1" dirty="0">
                <a:solidFill>
                  <a:srgbClr val="FFFFCC"/>
                </a:solidFill>
                <a:latin typeface="Book Antiqua" panose="02040602050305030304" pitchFamily="18" charset="0"/>
              </a:rPr>
              <a:t>Google Search:</a:t>
            </a:r>
            <a:r>
              <a:rPr lang="en-GB" dirty="0">
                <a:solidFill>
                  <a:srgbClr val="FFFFCC"/>
                </a:solidFill>
                <a:latin typeface="Book Antiqua" panose="02040602050305030304" pitchFamily="18" charset="0"/>
              </a:rPr>
              <a:t> </a:t>
            </a:r>
          </a:p>
          <a:p>
            <a:pPr algn="ctr"/>
            <a:r>
              <a:rPr lang="en-GB" dirty="0">
                <a:solidFill>
                  <a:srgbClr val="002060"/>
                </a:solidFill>
                <a:latin typeface="Book Antiqua" panose="02040602050305030304" pitchFamily="18" charset="0"/>
              </a:rPr>
              <a:t>The primary web search engine</a:t>
            </a:r>
            <a:endParaRPr lang="fr-FR" dirty="0">
              <a:solidFill>
                <a:srgbClr val="002060"/>
              </a:solidFill>
            </a:endParaRPr>
          </a:p>
        </p:txBody>
      </p:sp>
      <p:pic>
        <p:nvPicPr>
          <p:cNvPr id="5" name="Picture 2" descr="‪How to use Google to search‬‏">
            <a:extLst>
              <a:ext uri="{FF2B5EF4-FFF2-40B4-BE49-F238E27FC236}">
                <a16:creationId xmlns:a16="http://schemas.microsoft.com/office/drawing/2014/main" id="{4BCD31E4-CDD5-0E8C-6931-02E72D8130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595" y="3429000"/>
            <a:ext cx="1344698" cy="77229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 coins arrondis 5">
            <a:extLst>
              <a:ext uri="{FF2B5EF4-FFF2-40B4-BE49-F238E27FC236}">
                <a16:creationId xmlns:a16="http://schemas.microsoft.com/office/drawing/2014/main" id="{4FDFF1CF-CFD6-0594-0DCE-E3DB67BDA73E}"/>
              </a:ext>
            </a:extLst>
          </p:cNvPr>
          <p:cNvSpPr/>
          <p:nvPr/>
        </p:nvSpPr>
        <p:spPr>
          <a:xfrm>
            <a:off x="2643515" y="1675417"/>
            <a:ext cx="2026920" cy="2951448"/>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7885B921-DAB3-5963-8816-E844B03053D2}"/>
              </a:ext>
            </a:extLst>
          </p:cNvPr>
          <p:cNvSpPr txBox="1"/>
          <p:nvPr/>
        </p:nvSpPr>
        <p:spPr>
          <a:xfrm>
            <a:off x="2766169" y="1843202"/>
            <a:ext cx="1715877" cy="646331"/>
          </a:xfrm>
          <a:prstGeom prst="rect">
            <a:avLst/>
          </a:prstGeom>
          <a:noFill/>
        </p:spPr>
        <p:txBody>
          <a:bodyPr wrap="square" rtlCol="0">
            <a:spAutoFit/>
          </a:bodyPr>
          <a:lstStyle/>
          <a:p>
            <a:r>
              <a:rPr lang="en-GB" b="1" dirty="0">
                <a:solidFill>
                  <a:srgbClr val="FFFFCC"/>
                </a:solidFill>
                <a:latin typeface="Book Antiqua" panose="02040602050305030304" pitchFamily="18" charset="0"/>
              </a:rPr>
              <a:t>Gmail:</a:t>
            </a:r>
            <a:r>
              <a:rPr lang="en-GB" dirty="0">
                <a:solidFill>
                  <a:srgbClr val="FFFFCC"/>
                </a:solidFill>
                <a:latin typeface="Book Antiqua" panose="02040602050305030304" pitchFamily="18" charset="0"/>
              </a:rPr>
              <a:t> </a:t>
            </a:r>
            <a:r>
              <a:rPr lang="en-GB" dirty="0">
                <a:solidFill>
                  <a:srgbClr val="002060"/>
                </a:solidFill>
                <a:latin typeface="Book Antiqua" panose="02040602050305030304" pitchFamily="18" charset="0"/>
              </a:rPr>
              <a:t>Email service</a:t>
            </a:r>
            <a:endParaRPr lang="fr-FR" dirty="0">
              <a:solidFill>
                <a:srgbClr val="002060"/>
              </a:solidFill>
            </a:endParaRPr>
          </a:p>
        </p:txBody>
      </p:sp>
      <p:pic>
        <p:nvPicPr>
          <p:cNvPr id="8" name="Picture 2" descr="‪Check your Gmail inbox now! Google is changing everyone's email account |  Express.co.uk‬‏">
            <a:extLst>
              <a:ext uri="{FF2B5EF4-FFF2-40B4-BE49-F238E27FC236}">
                <a16:creationId xmlns:a16="http://schemas.microsoft.com/office/drawing/2014/main" id="{32CB9F15-5BA1-4803-70BF-8ACCB6D7BC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5450" y="3995994"/>
            <a:ext cx="756477" cy="44818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 coins arrondis 9">
            <a:extLst>
              <a:ext uri="{FF2B5EF4-FFF2-40B4-BE49-F238E27FC236}">
                <a16:creationId xmlns:a16="http://schemas.microsoft.com/office/drawing/2014/main" id="{163B5683-FDAC-1D6F-DDD5-EDD0D170B55A}"/>
              </a:ext>
            </a:extLst>
          </p:cNvPr>
          <p:cNvSpPr/>
          <p:nvPr/>
        </p:nvSpPr>
        <p:spPr>
          <a:xfrm>
            <a:off x="5029716" y="1675417"/>
            <a:ext cx="2026920" cy="2951448"/>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145AEBF0-A216-D9EC-1E3C-33E915B96E69}"/>
              </a:ext>
            </a:extLst>
          </p:cNvPr>
          <p:cNvSpPr txBox="1"/>
          <p:nvPr/>
        </p:nvSpPr>
        <p:spPr>
          <a:xfrm>
            <a:off x="5352996" y="1780002"/>
            <a:ext cx="1523999" cy="1477328"/>
          </a:xfrm>
          <a:prstGeom prst="rect">
            <a:avLst/>
          </a:prstGeom>
          <a:noFill/>
        </p:spPr>
        <p:txBody>
          <a:bodyPr wrap="square" rtlCol="0">
            <a:spAutoFit/>
          </a:bodyPr>
          <a:lstStyle/>
          <a:p>
            <a:pPr algn="ctr"/>
            <a:r>
              <a:rPr lang="en-GB" b="1" dirty="0">
                <a:solidFill>
                  <a:srgbClr val="FFFFCC"/>
                </a:solidFill>
                <a:latin typeface="Book Antiqua" panose="02040602050305030304" pitchFamily="18" charset="0"/>
              </a:rPr>
              <a:t>YouTube:</a:t>
            </a:r>
            <a:r>
              <a:rPr lang="en-GB" dirty="0">
                <a:solidFill>
                  <a:srgbClr val="FFFFCC"/>
                </a:solidFill>
                <a:latin typeface="Book Antiqua" panose="02040602050305030304" pitchFamily="18" charset="0"/>
              </a:rPr>
              <a:t> </a:t>
            </a:r>
            <a:r>
              <a:rPr lang="en-GB" dirty="0">
                <a:solidFill>
                  <a:srgbClr val="002060"/>
                </a:solidFill>
                <a:latin typeface="Book Antiqua" panose="02040602050305030304" pitchFamily="18" charset="0"/>
              </a:rPr>
              <a:t>Video hosting and sharing platform</a:t>
            </a:r>
            <a:endParaRPr lang="fr-FR" dirty="0">
              <a:solidFill>
                <a:srgbClr val="002060"/>
              </a:solidFill>
            </a:endParaRPr>
          </a:p>
        </p:txBody>
      </p:sp>
      <p:pic>
        <p:nvPicPr>
          <p:cNvPr id="14" name="Image 13">
            <a:extLst>
              <a:ext uri="{FF2B5EF4-FFF2-40B4-BE49-F238E27FC236}">
                <a16:creationId xmlns:a16="http://schemas.microsoft.com/office/drawing/2014/main" id="{456CB94D-CA5B-D859-8771-EA196942A2AD}"/>
              </a:ext>
            </a:extLst>
          </p:cNvPr>
          <p:cNvPicPr>
            <a:picLocks noChangeAspect="1"/>
          </p:cNvPicPr>
          <p:nvPr/>
        </p:nvPicPr>
        <p:blipFill>
          <a:blip r:embed="rId5"/>
          <a:stretch>
            <a:fillRect/>
          </a:stretch>
        </p:blipFill>
        <p:spPr>
          <a:xfrm>
            <a:off x="5329084" y="3429000"/>
            <a:ext cx="1533832" cy="766916"/>
          </a:xfrm>
          <a:prstGeom prst="rect">
            <a:avLst/>
          </a:prstGeom>
        </p:spPr>
      </p:pic>
      <p:sp>
        <p:nvSpPr>
          <p:cNvPr id="16" name="ZoneTexte 15">
            <a:extLst>
              <a:ext uri="{FF2B5EF4-FFF2-40B4-BE49-F238E27FC236}">
                <a16:creationId xmlns:a16="http://schemas.microsoft.com/office/drawing/2014/main" id="{0B9F0A04-57E1-11D2-E048-EFCFA7564C32}"/>
              </a:ext>
            </a:extLst>
          </p:cNvPr>
          <p:cNvSpPr txBox="1"/>
          <p:nvPr/>
        </p:nvSpPr>
        <p:spPr>
          <a:xfrm>
            <a:off x="2694510" y="2518666"/>
            <a:ext cx="1969769" cy="1477328"/>
          </a:xfrm>
          <a:prstGeom prst="rect">
            <a:avLst/>
          </a:prstGeom>
          <a:noFill/>
        </p:spPr>
        <p:txBody>
          <a:bodyPr wrap="square">
            <a:spAutoFit/>
          </a:bodyPr>
          <a:lstStyle/>
          <a:p>
            <a:r>
              <a:rPr lang="en-GB" sz="1800" b="1" noProof="0" dirty="0">
                <a:solidFill>
                  <a:srgbClr val="FFFFCC"/>
                </a:solidFill>
              </a:rPr>
              <a:t>Google Maps/Earth:</a:t>
            </a:r>
            <a:r>
              <a:rPr lang="en-GB" sz="1800" noProof="0" dirty="0">
                <a:solidFill>
                  <a:srgbClr val="FFFFCC"/>
                </a:solidFill>
              </a:rPr>
              <a:t> </a:t>
            </a:r>
            <a:r>
              <a:rPr lang="en-GB" sz="1800" noProof="0" dirty="0">
                <a:solidFill>
                  <a:srgbClr val="002060"/>
                </a:solidFill>
              </a:rPr>
              <a:t>Mapping, navigation, and location services.</a:t>
            </a:r>
            <a:endParaRPr lang="fr-FR" dirty="0">
              <a:solidFill>
                <a:srgbClr val="002060"/>
              </a:solidFill>
            </a:endParaRPr>
          </a:p>
        </p:txBody>
      </p:sp>
      <p:pic>
        <p:nvPicPr>
          <p:cNvPr id="18" name="Picture 2" descr="‪Voyager intelligemment: 5 fonctionnalités cachées pour mieux profiter de Google  Maps | Swisscom Blog‬‏">
            <a:extLst>
              <a:ext uri="{FF2B5EF4-FFF2-40B4-BE49-F238E27FC236}">
                <a16:creationId xmlns:a16="http://schemas.microsoft.com/office/drawing/2014/main" id="{99879E93-946D-4F9E-2C3B-564864B9A6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2922" y="3938418"/>
            <a:ext cx="971843" cy="62699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61215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A1DF7681-5D82-AC44-6E00-439707965EDA}"/>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57B3BD0E-2E7E-C7A7-4113-03CA4525273E}"/>
              </a:ext>
            </a:extLst>
          </p:cNvPr>
          <p:cNvSpPr/>
          <p:nvPr/>
        </p:nvSpPr>
        <p:spPr>
          <a:xfrm>
            <a:off x="0" y="0"/>
            <a:ext cx="11469757" cy="6858000"/>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 name="ZoneTexte 1">
            <a:extLst>
              <a:ext uri="{FF2B5EF4-FFF2-40B4-BE49-F238E27FC236}">
                <a16:creationId xmlns:a16="http://schemas.microsoft.com/office/drawing/2014/main" id="{98AA2B12-36AC-3132-99E7-963212892BC5}"/>
              </a:ext>
            </a:extLst>
          </p:cNvPr>
          <p:cNvSpPr txBox="1"/>
          <p:nvPr/>
        </p:nvSpPr>
        <p:spPr>
          <a:xfrm>
            <a:off x="10482424" y="3582407"/>
            <a:ext cx="1329608" cy="861774"/>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5000" dirty="0">
                <a:solidFill>
                  <a:schemeClr val="bg1">
                    <a:alpha val="20000"/>
                  </a:schemeClr>
                </a:solidFill>
                <a:latin typeface="Gill Sans Ultra Bold Condensed" panose="020B0A06020104020203" pitchFamily="34" charset="0"/>
              </a:rPr>
              <a:t>01</a:t>
            </a:r>
            <a:endParaRPr lang="fr-FR" sz="5000" dirty="0">
              <a:solidFill>
                <a:schemeClr val="bg1">
                  <a:alpha val="20000"/>
                </a:schemeClr>
              </a:solidFill>
              <a:latin typeface="Gill Sans Ultra Bold Condensed" panose="020B0A06020104020203" pitchFamily="34" charset="0"/>
            </a:endParaRPr>
          </a:p>
        </p:txBody>
      </p:sp>
      <p:sp>
        <p:nvSpPr>
          <p:cNvPr id="11" name="Rectangle : coins arrondis 10">
            <a:extLst>
              <a:ext uri="{FF2B5EF4-FFF2-40B4-BE49-F238E27FC236}">
                <a16:creationId xmlns:a16="http://schemas.microsoft.com/office/drawing/2014/main" id="{716E592F-34BB-1982-F540-1F0DFE74C438}"/>
              </a:ext>
            </a:extLst>
          </p:cNvPr>
          <p:cNvSpPr/>
          <p:nvPr/>
        </p:nvSpPr>
        <p:spPr>
          <a:xfrm>
            <a:off x="274320" y="1675417"/>
            <a:ext cx="2026920" cy="2951448"/>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EB3BD25B-5A15-2FFE-27E1-EAF039758F40}"/>
              </a:ext>
            </a:extLst>
          </p:cNvPr>
          <p:cNvSpPr txBox="1"/>
          <p:nvPr/>
        </p:nvSpPr>
        <p:spPr>
          <a:xfrm>
            <a:off x="560192" y="1780002"/>
            <a:ext cx="1455175" cy="1477328"/>
          </a:xfrm>
          <a:prstGeom prst="rect">
            <a:avLst/>
          </a:prstGeom>
          <a:noFill/>
        </p:spPr>
        <p:txBody>
          <a:bodyPr wrap="square" rtlCol="0">
            <a:spAutoFit/>
          </a:bodyPr>
          <a:lstStyle/>
          <a:p>
            <a:pPr algn="ctr"/>
            <a:r>
              <a:rPr lang="en-GB" b="1" dirty="0">
                <a:solidFill>
                  <a:srgbClr val="FFFFCC"/>
                </a:solidFill>
                <a:latin typeface="Book Antiqua" panose="02040602050305030304" pitchFamily="18" charset="0"/>
              </a:rPr>
              <a:t>Google Search:</a:t>
            </a:r>
            <a:r>
              <a:rPr lang="en-GB" dirty="0">
                <a:solidFill>
                  <a:srgbClr val="FFFFCC"/>
                </a:solidFill>
                <a:latin typeface="Book Antiqua" panose="02040602050305030304" pitchFamily="18" charset="0"/>
              </a:rPr>
              <a:t> </a:t>
            </a:r>
          </a:p>
          <a:p>
            <a:pPr algn="ctr"/>
            <a:r>
              <a:rPr lang="en-GB" dirty="0">
                <a:solidFill>
                  <a:srgbClr val="002060"/>
                </a:solidFill>
                <a:latin typeface="Book Antiqua" panose="02040602050305030304" pitchFamily="18" charset="0"/>
              </a:rPr>
              <a:t>The primary web search engine</a:t>
            </a:r>
            <a:endParaRPr lang="fr-FR" dirty="0">
              <a:solidFill>
                <a:srgbClr val="002060"/>
              </a:solidFill>
            </a:endParaRPr>
          </a:p>
        </p:txBody>
      </p:sp>
      <p:pic>
        <p:nvPicPr>
          <p:cNvPr id="5" name="Picture 2" descr="‪How to use Google to search‬‏">
            <a:extLst>
              <a:ext uri="{FF2B5EF4-FFF2-40B4-BE49-F238E27FC236}">
                <a16:creationId xmlns:a16="http://schemas.microsoft.com/office/drawing/2014/main" id="{162217D5-B297-C797-57EC-7D351BA3F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595" y="3429000"/>
            <a:ext cx="1344698" cy="77229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 coins arrondis 5">
            <a:extLst>
              <a:ext uri="{FF2B5EF4-FFF2-40B4-BE49-F238E27FC236}">
                <a16:creationId xmlns:a16="http://schemas.microsoft.com/office/drawing/2014/main" id="{49E102C2-435E-BAB1-0E09-9166D21FD32D}"/>
              </a:ext>
            </a:extLst>
          </p:cNvPr>
          <p:cNvSpPr/>
          <p:nvPr/>
        </p:nvSpPr>
        <p:spPr>
          <a:xfrm>
            <a:off x="2643515" y="1675417"/>
            <a:ext cx="2026920" cy="2951448"/>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3134D551-1F29-069A-E6A1-522AA9D86D89}"/>
              </a:ext>
            </a:extLst>
          </p:cNvPr>
          <p:cNvSpPr txBox="1"/>
          <p:nvPr/>
        </p:nvSpPr>
        <p:spPr>
          <a:xfrm>
            <a:off x="2766169" y="1843202"/>
            <a:ext cx="1715877" cy="646331"/>
          </a:xfrm>
          <a:prstGeom prst="rect">
            <a:avLst/>
          </a:prstGeom>
          <a:noFill/>
        </p:spPr>
        <p:txBody>
          <a:bodyPr wrap="square" rtlCol="0">
            <a:spAutoFit/>
          </a:bodyPr>
          <a:lstStyle/>
          <a:p>
            <a:r>
              <a:rPr lang="en-GB" b="1" dirty="0">
                <a:solidFill>
                  <a:srgbClr val="FFFFCC"/>
                </a:solidFill>
                <a:latin typeface="Book Antiqua" panose="02040602050305030304" pitchFamily="18" charset="0"/>
              </a:rPr>
              <a:t>Gmail:</a:t>
            </a:r>
            <a:r>
              <a:rPr lang="en-GB" dirty="0">
                <a:solidFill>
                  <a:srgbClr val="FFFFCC"/>
                </a:solidFill>
                <a:latin typeface="Book Antiqua" panose="02040602050305030304" pitchFamily="18" charset="0"/>
              </a:rPr>
              <a:t> </a:t>
            </a:r>
            <a:r>
              <a:rPr lang="en-GB" dirty="0">
                <a:solidFill>
                  <a:srgbClr val="002060"/>
                </a:solidFill>
                <a:latin typeface="Book Antiqua" panose="02040602050305030304" pitchFamily="18" charset="0"/>
              </a:rPr>
              <a:t>Email service</a:t>
            </a:r>
            <a:endParaRPr lang="fr-FR" dirty="0">
              <a:solidFill>
                <a:srgbClr val="002060"/>
              </a:solidFill>
            </a:endParaRPr>
          </a:p>
        </p:txBody>
      </p:sp>
      <p:pic>
        <p:nvPicPr>
          <p:cNvPr id="8" name="Picture 2" descr="‪Check your Gmail inbox now! Google is changing everyone's email account |  Express.co.uk‬‏">
            <a:extLst>
              <a:ext uri="{FF2B5EF4-FFF2-40B4-BE49-F238E27FC236}">
                <a16:creationId xmlns:a16="http://schemas.microsoft.com/office/drawing/2014/main" id="{651833CC-D60A-19C1-415E-F0A0AA1EA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5450" y="3995994"/>
            <a:ext cx="756477" cy="44818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 coins arrondis 9">
            <a:extLst>
              <a:ext uri="{FF2B5EF4-FFF2-40B4-BE49-F238E27FC236}">
                <a16:creationId xmlns:a16="http://schemas.microsoft.com/office/drawing/2014/main" id="{1F796355-2699-0AD6-0F3F-08BB40E30682}"/>
              </a:ext>
            </a:extLst>
          </p:cNvPr>
          <p:cNvSpPr/>
          <p:nvPr/>
        </p:nvSpPr>
        <p:spPr>
          <a:xfrm>
            <a:off x="5029716" y="1675417"/>
            <a:ext cx="2026920" cy="2951448"/>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4E7FFA3F-9129-5544-D12F-7A76D2E8324F}"/>
              </a:ext>
            </a:extLst>
          </p:cNvPr>
          <p:cNvSpPr txBox="1"/>
          <p:nvPr/>
        </p:nvSpPr>
        <p:spPr>
          <a:xfrm>
            <a:off x="5352996" y="1780002"/>
            <a:ext cx="1523999" cy="1477328"/>
          </a:xfrm>
          <a:prstGeom prst="rect">
            <a:avLst/>
          </a:prstGeom>
          <a:noFill/>
        </p:spPr>
        <p:txBody>
          <a:bodyPr wrap="square" rtlCol="0">
            <a:spAutoFit/>
          </a:bodyPr>
          <a:lstStyle/>
          <a:p>
            <a:pPr algn="ctr"/>
            <a:r>
              <a:rPr lang="en-GB" b="1" dirty="0">
                <a:solidFill>
                  <a:srgbClr val="FFFFCC"/>
                </a:solidFill>
                <a:latin typeface="Book Antiqua" panose="02040602050305030304" pitchFamily="18" charset="0"/>
              </a:rPr>
              <a:t>YouTube:</a:t>
            </a:r>
            <a:r>
              <a:rPr lang="en-GB" dirty="0">
                <a:solidFill>
                  <a:srgbClr val="FFFFCC"/>
                </a:solidFill>
                <a:latin typeface="Book Antiqua" panose="02040602050305030304" pitchFamily="18" charset="0"/>
              </a:rPr>
              <a:t> </a:t>
            </a:r>
            <a:r>
              <a:rPr lang="en-GB" dirty="0">
                <a:solidFill>
                  <a:srgbClr val="002060"/>
                </a:solidFill>
                <a:latin typeface="Book Antiqua" panose="02040602050305030304" pitchFamily="18" charset="0"/>
              </a:rPr>
              <a:t>Video hosting and sharing platform</a:t>
            </a:r>
            <a:endParaRPr lang="fr-FR" dirty="0">
              <a:solidFill>
                <a:srgbClr val="002060"/>
              </a:solidFill>
            </a:endParaRPr>
          </a:p>
        </p:txBody>
      </p:sp>
      <p:pic>
        <p:nvPicPr>
          <p:cNvPr id="14" name="Image 13">
            <a:extLst>
              <a:ext uri="{FF2B5EF4-FFF2-40B4-BE49-F238E27FC236}">
                <a16:creationId xmlns:a16="http://schemas.microsoft.com/office/drawing/2014/main" id="{050B85D8-86F5-11E9-B0FE-3D5A57AA6876}"/>
              </a:ext>
            </a:extLst>
          </p:cNvPr>
          <p:cNvPicPr>
            <a:picLocks noChangeAspect="1"/>
          </p:cNvPicPr>
          <p:nvPr/>
        </p:nvPicPr>
        <p:blipFill>
          <a:blip r:embed="rId4"/>
          <a:stretch>
            <a:fillRect/>
          </a:stretch>
        </p:blipFill>
        <p:spPr>
          <a:xfrm>
            <a:off x="5329084" y="3429000"/>
            <a:ext cx="1533832" cy="766916"/>
          </a:xfrm>
          <a:prstGeom prst="rect">
            <a:avLst/>
          </a:prstGeom>
        </p:spPr>
      </p:pic>
      <p:sp>
        <p:nvSpPr>
          <p:cNvPr id="16" name="ZoneTexte 15">
            <a:extLst>
              <a:ext uri="{FF2B5EF4-FFF2-40B4-BE49-F238E27FC236}">
                <a16:creationId xmlns:a16="http://schemas.microsoft.com/office/drawing/2014/main" id="{DBE6CAA2-6FC7-A89E-9616-15608D472F55}"/>
              </a:ext>
            </a:extLst>
          </p:cNvPr>
          <p:cNvSpPr txBox="1"/>
          <p:nvPr/>
        </p:nvSpPr>
        <p:spPr>
          <a:xfrm>
            <a:off x="2694510" y="2518666"/>
            <a:ext cx="1969769" cy="1477328"/>
          </a:xfrm>
          <a:prstGeom prst="rect">
            <a:avLst/>
          </a:prstGeom>
          <a:noFill/>
        </p:spPr>
        <p:txBody>
          <a:bodyPr wrap="square">
            <a:spAutoFit/>
          </a:bodyPr>
          <a:lstStyle/>
          <a:p>
            <a:r>
              <a:rPr lang="en-GB" sz="1800" b="1" noProof="0" dirty="0">
                <a:solidFill>
                  <a:srgbClr val="FFFFCC"/>
                </a:solidFill>
              </a:rPr>
              <a:t>Google Maps/Earth:</a:t>
            </a:r>
            <a:r>
              <a:rPr lang="en-GB" sz="1800" noProof="0" dirty="0">
                <a:solidFill>
                  <a:srgbClr val="FFFFCC"/>
                </a:solidFill>
              </a:rPr>
              <a:t> </a:t>
            </a:r>
            <a:r>
              <a:rPr lang="en-GB" sz="1800" noProof="0" dirty="0">
                <a:solidFill>
                  <a:srgbClr val="002060"/>
                </a:solidFill>
              </a:rPr>
              <a:t>Mapping, navigation, and location services.</a:t>
            </a:r>
            <a:endParaRPr lang="fr-FR" dirty="0">
              <a:solidFill>
                <a:srgbClr val="002060"/>
              </a:solidFill>
            </a:endParaRPr>
          </a:p>
        </p:txBody>
      </p:sp>
      <p:sp>
        <p:nvSpPr>
          <p:cNvPr id="17" name="Rectangle : coins arrondis 16">
            <a:extLst>
              <a:ext uri="{FF2B5EF4-FFF2-40B4-BE49-F238E27FC236}">
                <a16:creationId xmlns:a16="http://schemas.microsoft.com/office/drawing/2014/main" id="{C6D8CA27-9297-804C-658A-D6378FE6FED8}"/>
              </a:ext>
            </a:extLst>
          </p:cNvPr>
          <p:cNvSpPr/>
          <p:nvPr/>
        </p:nvSpPr>
        <p:spPr>
          <a:xfrm>
            <a:off x="7521565" y="1675417"/>
            <a:ext cx="2026920" cy="2951448"/>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 name="Picture 2" descr="‪Voyager intelligemment: 5 fonctionnalités cachées pour mieux profiter de Google  Maps | Swisscom Blog‬‏">
            <a:extLst>
              <a:ext uri="{FF2B5EF4-FFF2-40B4-BE49-F238E27FC236}">
                <a16:creationId xmlns:a16="http://schemas.microsoft.com/office/drawing/2014/main" id="{21160FB2-180F-24CD-2E28-8F511E2DEC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2922" y="3938418"/>
            <a:ext cx="971843" cy="62699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0" name="ZoneTexte 19">
            <a:extLst>
              <a:ext uri="{FF2B5EF4-FFF2-40B4-BE49-F238E27FC236}">
                <a16:creationId xmlns:a16="http://schemas.microsoft.com/office/drawing/2014/main" id="{EF32F2D4-3397-D0CF-143A-F1D0EACE1A62}"/>
              </a:ext>
            </a:extLst>
          </p:cNvPr>
          <p:cNvSpPr txBox="1"/>
          <p:nvPr/>
        </p:nvSpPr>
        <p:spPr>
          <a:xfrm>
            <a:off x="7521565" y="1675417"/>
            <a:ext cx="2202537" cy="2308324"/>
          </a:xfrm>
          <a:prstGeom prst="rect">
            <a:avLst/>
          </a:prstGeom>
          <a:noFill/>
        </p:spPr>
        <p:txBody>
          <a:bodyPr wrap="square">
            <a:spAutoFit/>
          </a:bodyPr>
          <a:lstStyle/>
          <a:p>
            <a:pPr lvl="0" eaLnBrk="0" fontAlgn="base" hangingPunct="0">
              <a:spcBef>
                <a:spcPct val="0"/>
              </a:spcBef>
              <a:spcAft>
                <a:spcPct val="0"/>
              </a:spcAft>
              <a:buFontTx/>
              <a:buChar char="•"/>
            </a:pPr>
            <a:r>
              <a:rPr lang="en-GB" sz="1200" b="1" noProof="0" dirty="0">
                <a:solidFill>
                  <a:srgbClr val="FFFFCC"/>
                </a:solidFill>
                <a:latin typeface="Arial" panose="020B0604020202020204" pitchFamily="34" charset="0"/>
              </a:rPr>
              <a:t>Google Docs, Sheets, Slides:</a:t>
            </a:r>
            <a:r>
              <a:rPr lang="en-GB" sz="1200" noProof="0" dirty="0">
                <a:solidFill>
                  <a:srgbClr val="FFFFCC"/>
                </a:solidFill>
                <a:latin typeface="Arial" panose="020B0604020202020204" pitchFamily="34" charset="0"/>
              </a:rPr>
              <a:t> </a:t>
            </a:r>
            <a:r>
              <a:rPr lang="en-GB" sz="1200" noProof="0" dirty="0">
                <a:solidFill>
                  <a:srgbClr val="002060"/>
                </a:solidFill>
                <a:latin typeface="Arial" panose="020B0604020202020204" pitchFamily="34" charset="0"/>
              </a:rPr>
              <a:t>Online word processing, spreadsheets, and presentation tools.</a:t>
            </a:r>
          </a:p>
          <a:p>
            <a:pPr lvl="0" eaLnBrk="0" fontAlgn="base" hangingPunct="0">
              <a:spcBef>
                <a:spcPct val="0"/>
              </a:spcBef>
              <a:spcAft>
                <a:spcPct val="0"/>
              </a:spcAft>
              <a:buFontTx/>
              <a:buChar char="•"/>
            </a:pPr>
            <a:r>
              <a:rPr lang="en-GB" sz="1200" b="1" noProof="0" dirty="0">
                <a:solidFill>
                  <a:srgbClr val="FFFFCC"/>
                </a:solidFill>
                <a:latin typeface="Arial" panose="020B0604020202020204" pitchFamily="34" charset="0"/>
              </a:rPr>
              <a:t>Google Drive</a:t>
            </a:r>
            <a:r>
              <a:rPr lang="en-GB" sz="1200" b="1" noProof="0" dirty="0">
                <a:solidFill>
                  <a:schemeClr val="bg1"/>
                </a:solidFill>
                <a:latin typeface="Arial" panose="020B0604020202020204" pitchFamily="34" charset="0"/>
              </a:rPr>
              <a:t>:</a:t>
            </a:r>
            <a:r>
              <a:rPr lang="en-GB" sz="1200" noProof="0" dirty="0">
                <a:solidFill>
                  <a:schemeClr val="bg1"/>
                </a:solidFill>
                <a:latin typeface="Arial" panose="020B0604020202020204" pitchFamily="34" charset="0"/>
              </a:rPr>
              <a:t> </a:t>
            </a:r>
            <a:r>
              <a:rPr lang="en-GB" sz="1200" noProof="0" dirty="0">
                <a:solidFill>
                  <a:srgbClr val="002060"/>
                </a:solidFill>
                <a:latin typeface="Arial" panose="020B0604020202020204" pitchFamily="34" charset="0"/>
              </a:rPr>
              <a:t>Cloud storage and file synchronization.</a:t>
            </a:r>
          </a:p>
          <a:p>
            <a:pPr lvl="0" eaLnBrk="0" fontAlgn="base" hangingPunct="0">
              <a:spcBef>
                <a:spcPct val="0"/>
              </a:spcBef>
              <a:spcAft>
                <a:spcPct val="0"/>
              </a:spcAft>
              <a:buFontTx/>
              <a:buChar char="•"/>
            </a:pPr>
            <a:r>
              <a:rPr lang="en-GB" sz="1200" b="1" noProof="0" dirty="0">
                <a:solidFill>
                  <a:srgbClr val="FFFFCC"/>
                </a:solidFill>
                <a:latin typeface="Arial" panose="020B0604020202020204" pitchFamily="34" charset="0"/>
              </a:rPr>
              <a:t>Google Calendar:</a:t>
            </a:r>
            <a:r>
              <a:rPr lang="en-GB" sz="1200" noProof="0" dirty="0">
                <a:solidFill>
                  <a:srgbClr val="FFFFCC"/>
                </a:solidFill>
                <a:latin typeface="Arial" panose="020B0604020202020204" pitchFamily="34" charset="0"/>
              </a:rPr>
              <a:t> </a:t>
            </a:r>
            <a:r>
              <a:rPr lang="en-GB" sz="1200" noProof="0" dirty="0">
                <a:solidFill>
                  <a:srgbClr val="002060"/>
                </a:solidFill>
                <a:latin typeface="Arial" panose="020B0604020202020204" pitchFamily="34" charset="0"/>
              </a:rPr>
              <a:t>Scheduling and time management.</a:t>
            </a:r>
          </a:p>
          <a:p>
            <a:pPr lvl="0" eaLnBrk="0" fontAlgn="base" hangingPunct="0">
              <a:spcBef>
                <a:spcPct val="0"/>
              </a:spcBef>
              <a:spcAft>
                <a:spcPct val="0"/>
              </a:spcAft>
              <a:buFontTx/>
              <a:buChar char="•"/>
            </a:pPr>
            <a:r>
              <a:rPr lang="en-GB" sz="1200" b="1" noProof="0" dirty="0">
                <a:solidFill>
                  <a:srgbClr val="FFFFCC"/>
                </a:solidFill>
                <a:latin typeface="Arial" panose="020B0604020202020204" pitchFamily="34" charset="0"/>
              </a:rPr>
              <a:t>Google Meet:</a:t>
            </a:r>
            <a:r>
              <a:rPr lang="en-GB" sz="1200" noProof="0" dirty="0">
                <a:solidFill>
                  <a:srgbClr val="FFFFCC"/>
                </a:solidFill>
                <a:latin typeface="Arial" panose="020B0604020202020204" pitchFamily="34" charset="0"/>
              </a:rPr>
              <a:t> </a:t>
            </a:r>
            <a:r>
              <a:rPr lang="en-GB" sz="1200" noProof="0" dirty="0">
                <a:solidFill>
                  <a:srgbClr val="002060"/>
                </a:solidFill>
                <a:latin typeface="Arial" panose="020B0604020202020204" pitchFamily="34" charset="0"/>
              </a:rPr>
              <a:t>Video conferencing.</a:t>
            </a:r>
          </a:p>
        </p:txBody>
      </p:sp>
      <p:pic>
        <p:nvPicPr>
          <p:cNvPr id="21" name="Picture 6" descr="‪Google Workspace - SocialCities‬‏">
            <a:extLst>
              <a:ext uri="{FF2B5EF4-FFF2-40B4-BE49-F238E27FC236}">
                <a16:creationId xmlns:a16="http://schemas.microsoft.com/office/drawing/2014/main" id="{0B9F26B7-36C3-D74C-F77A-0CA56BC7DB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57138" y="3938418"/>
            <a:ext cx="1769412" cy="62699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3" name="Forme libre : forme 12">
            <a:extLst>
              <a:ext uri="{FF2B5EF4-FFF2-40B4-BE49-F238E27FC236}">
                <a16:creationId xmlns:a16="http://schemas.microsoft.com/office/drawing/2014/main" id="{0877C11A-B7D5-5235-A25C-E701F37B0474}"/>
              </a:ext>
            </a:extLst>
          </p:cNvPr>
          <p:cNvSpPr/>
          <p:nvPr/>
        </p:nvSpPr>
        <p:spPr>
          <a:xfrm>
            <a:off x="-1356028" y="0"/>
            <a:ext cx="844178" cy="6857997"/>
          </a:xfrm>
          <a:custGeom>
            <a:avLst/>
            <a:gdLst>
              <a:gd name="csX0" fmla="*/ 0 w 11648662"/>
              <a:gd name="csY0" fmla="*/ 0 h 6858000"/>
              <a:gd name="csX1" fmla="*/ 11082130 w 11648662"/>
              <a:gd name="csY1" fmla="*/ 0 h 6858000"/>
              <a:gd name="csX2" fmla="*/ 11082130 w 11648662"/>
              <a:gd name="csY2" fmla="*/ 2498737 h 6858000"/>
              <a:gd name="csX3" fmla="*/ 11102011 w 11648662"/>
              <a:gd name="csY3" fmla="*/ 2494723 h 6858000"/>
              <a:gd name="csX4" fmla="*/ 11539329 w 11648662"/>
              <a:gd name="csY4" fmla="*/ 2494723 h 6858000"/>
              <a:gd name="csX5" fmla="*/ 11648662 w 11648662"/>
              <a:gd name="csY5" fmla="*/ 2604056 h 6858000"/>
              <a:gd name="csX6" fmla="*/ 11648662 w 11648662"/>
              <a:gd name="csY6" fmla="*/ 3110947 h 6858000"/>
              <a:gd name="csX7" fmla="*/ 11539329 w 11648662"/>
              <a:gd name="csY7" fmla="*/ 3220280 h 6858000"/>
              <a:gd name="csX8" fmla="*/ 11102011 w 11648662"/>
              <a:gd name="csY8" fmla="*/ 3220280 h 6858000"/>
              <a:gd name="csX9" fmla="*/ 11082130 w 11648662"/>
              <a:gd name="csY9" fmla="*/ 3216266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2498737"/>
                </a:lnTo>
                <a:lnTo>
                  <a:pt x="11102011" y="2494723"/>
                </a:lnTo>
                <a:lnTo>
                  <a:pt x="11539329" y="2494723"/>
                </a:lnTo>
                <a:cubicBezTo>
                  <a:pt x="11599712" y="2494723"/>
                  <a:pt x="11648662" y="2543673"/>
                  <a:pt x="11648662" y="2604056"/>
                </a:cubicBezTo>
                <a:lnTo>
                  <a:pt x="11648662" y="3110947"/>
                </a:lnTo>
                <a:cubicBezTo>
                  <a:pt x="11648662" y="3171330"/>
                  <a:pt x="11599712" y="3220280"/>
                  <a:pt x="11539329" y="3220280"/>
                </a:cubicBezTo>
                <a:lnTo>
                  <a:pt x="11102011" y="3220280"/>
                </a:lnTo>
                <a:lnTo>
                  <a:pt x="11082130" y="3216266"/>
                </a:lnTo>
                <a:lnTo>
                  <a:pt x="11082130" y="6858000"/>
                </a:lnTo>
                <a:lnTo>
                  <a:pt x="0" y="6858000"/>
                </a:lnTo>
                <a:close/>
              </a:path>
            </a:pathLst>
          </a:custGeom>
          <a:solidFill>
            <a:srgbClr val="A162D0"/>
          </a:solidFill>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5" name="Forme libre : forme 14">
            <a:extLst>
              <a:ext uri="{FF2B5EF4-FFF2-40B4-BE49-F238E27FC236}">
                <a16:creationId xmlns:a16="http://schemas.microsoft.com/office/drawing/2014/main" id="{B7AA736E-87B9-5679-1735-D881ED74BA6E}"/>
              </a:ext>
            </a:extLst>
          </p:cNvPr>
          <p:cNvSpPr/>
          <p:nvPr/>
        </p:nvSpPr>
        <p:spPr>
          <a:xfrm>
            <a:off x="-3467071" y="138498"/>
            <a:ext cx="1177104" cy="6887817"/>
          </a:xfrm>
          <a:custGeom>
            <a:avLst/>
            <a:gdLst>
              <a:gd name="csX0" fmla="*/ 0 w 11648662"/>
              <a:gd name="csY0" fmla="*/ 0 h 6858000"/>
              <a:gd name="csX1" fmla="*/ 11082130 w 11648662"/>
              <a:gd name="csY1" fmla="*/ 0 h 6858000"/>
              <a:gd name="csX2" fmla="*/ 11082130 w 11648662"/>
              <a:gd name="csY2" fmla="*/ 1186772 h 6858000"/>
              <a:gd name="csX3" fmla="*/ 11102011 w 11648662"/>
              <a:gd name="csY3" fmla="*/ 1182758 h 6858000"/>
              <a:gd name="csX4" fmla="*/ 11539329 w 11648662"/>
              <a:gd name="csY4" fmla="*/ 1182758 h 6858000"/>
              <a:gd name="csX5" fmla="*/ 11648662 w 11648662"/>
              <a:gd name="csY5" fmla="*/ 1292091 h 6858000"/>
              <a:gd name="csX6" fmla="*/ 11648662 w 11648662"/>
              <a:gd name="csY6" fmla="*/ 1798982 h 6858000"/>
              <a:gd name="csX7" fmla="*/ 11539329 w 11648662"/>
              <a:gd name="csY7" fmla="*/ 1908315 h 6858000"/>
              <a:gd name="csX8" fmla="*/ 11102011 w 11648662"/>
              <a:gd name="csY8" fmla="*/ 1908315 h 6858000"/>
              <a:gd name="csX9" fmla="*/ 11082130 w 11648662"/>
              <a:gd name="csY9" fmla="*/ 1904301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1186772"/>
                </a:lnTo>
                <a:lnTo>
                  <a:pt x="11102011" y="1182758"/>
                </a:lnTo>
                <a:lnTo>
                  <a:pt x="11539329" y="1182758"/>
                </a:lnTo>
                <a:cubicBezTo>
                  <a:pt x="11599712" y="1182758"/>
                  <a:pt x="11648662" y="1231708"/>
                  <a:pt x="11648662" y="1292091"/>
                </a:cubicBezTo>
                <a:lnTo>
                  <a:pt x="11648662" y="1798982"/>
                </a:lnTo>
                <a:cubicBezTo>
                  <a:pt x="11648662" y="1859365"/>
                  <a:pt x="11599712" y="1908315"/>
                  <a:pt x="11539329" y="1908315"/>
                </a:cubicBezTo>
                <a:lnTo>
                  <a:pt x="11102011" y="1908315"/>
                </a:lnTo>
                <a:lnTo>
                  <a:pt x="11082130" y="1904301"/>
                </a:lnTo>
                <a:lnTo>
                  <a:pt x="11082130" y="6858000"/>
                </a:lnTo>
                <a:lnTo>
                  <a:pt x="0" y="6858000"/>
                </a:lnTo>
                <a:close/>
              </a:path>
            </a:pathLst>
          </a:custGeom>
          <a:solidFill>
            <a:srgbClr val="C39BE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9" name="Rectangle : coins arrondis 18">
            <a:extLst>
              <a:ext uri="{FF2B5EF4-FFF2-40B4-BE49-F238E27FC236}">
                <a16:creationId xmlns:a16="http://schemas.microsoft.com/office/drawing/2014/main" id="{250A827C-AF91-5762-9F25-33576DFAB178}"/>
              </a:ext>
            </a:extLst>
          </p:cNvPr>
          <p:cNvSpPr/>
          <p:nvPr/>
        </p:nvSpPr>
        <p:spPr>
          <a:xfrm>
            <a:off x="-364164" y="3651996"/>
            <a:ext cx="123016" cy="45719"/>
          </a:xfrm>
          <a:prstGeom prst="roundRect">
            <a:avLst>
              <a:gd name="adj" fmla="val 10652"/>
            </a:avLst>
          </a:prstGeom>
          <a:gradFill>
            <a:gsLst>
              <a:gs pos="0">
                <a:schemeClr val="accent1">
                  <a:lumMod val="5000"/>
                  <a:lumOff val="95000"/>
                </a:schemeClr>
              </a:gs>
              <a:gs pos="0">
                <a:schemeClr val="accent1">
                  <a:lumMod val="45000"/>
                  <a:lumOff val="55000"/>
                </a:schemeClr>
              </a:gs>
              <a:gs pos="0">
                <a:srgbClr val="C39BE1"/>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329884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D1492672-6B6A-4326-BFE3-1B5699B438FF}"/>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574D468F-B3AD-D759-AD5C-7ED08E275CFE}"/>
              </a:ext>
            </a:extLst>
          </p:cNvPr>
          <p:cNvSpPr/>
          <p:nvPr/>
        </p:nvSpPr>
        <p:spPr>
          <a:xfrm>
            <a:off x="722243" y="29818"/>
            <a:ext cx="11469757" cy="6798364"/>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8" name="Forme libre : forme 7">
            <a:extLst>
              <a:ext uri="{FF2B5EF4-FFF2-40B4-BE49-F238E27FC236}">
                <a16:creationId xmlns:a16="http://schemas.microsoft.com/office/drawing/2014/main" id="{D861A27F-B7D1-FC4C-3993-E940E826A562}"/>
              </a:ext>
            </a:extLst>
          </p:cNvPr>
          <p:cNvSpPr/>
          <p:nvPr/>
        </p:nvSpPr>
        <p:spPr>
          <a:xfrm>
            <a:off x="722243" y="0"/>
            <a:ext cx="11151704" cy="6857997"/>
          </a:xfrm>
          <a:custGeom>
            <a:avLst/>
            <a:gdLst>
              <a:gd name="csX0" fmla="*/ 0 w 11648662"/>
              <a:gd name="csY0" fmla="*/ 0 h 6858000"/>
              <a:gd name="csX1" fmla="*/ 11082130 w 11648662"/>
              <a:gd name="csY1" fmla="*/ 0 h 6858000"/>
              <a:gd name="csX2" fmla="*/ 11082130 w 11648662"/>
              <a:gd name="csY2" fmla="*/ 2498737 h 6858000"/>
              <a:gd name="csX3" fmla="*/ 11102011 w 11648662"/>
              <a:gd name="csY3" fmla="*/ 2494723 h 6858000"/>
              <a:gd name="csX4" fmla="*/ 11539329 w 11648662"/>
              <a:gd name="csY4" fmla="*/ 2494723 h 6858000"/>
              <a:gd name="csX5" fmla="*/ 11648662 w 11648662"/>
              <a:gd name="csY5" fmla="*/ 2604056 h 6858000"/>
              <a:gd name="csX6" fmla="*/ 11648662 w 11648662"/>
              <a:gd name="csY6" fmla="*/ 3110947 h 6858000"/>
              <a:gd name="csX7" fmla="*/ 11539329 w 11648662"/>
              <a:gd name="csY7" fmla="*/ 3220280 h 6858000"/>
              <a:gd name="csX8" fmla="*/ 11102011 w 11648662"/>
              <a:gd name="csY8" fmla="*/ 3220280 h 6858000"/>
              <a:gd name="csX9" fmla="*/ 11082130 w 11648662"/>
              <a:gd name="csY9" fmla="*/ 3216266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2498737"/>
                </a:lnTo>
                <a:lnTo>
                  <a:pt x="11102011" y="2494723"/>
                </a:lnTo>
                <a:lnTo>
                  <a:pt x="11539329" y="2494723"/>
                </a:lnTo>
                <a:cubicBezTo>
                  <a:pt x="11599712" y="2494723"/>
                  <a:pt x="11648662" y="2543673"/>
                  <a:pt x="11648662" y="2604056"/>
                </a:cubicBezTo>
                <a:lnTo>
                  <a:pt x="11648662" y="3110947"/>
                </a:lnTo>
                <a:cubicBezTo>
                  <a:pt x="11648662" y="3171330"/>
                  <a:pt x="11599712" y="3220280"/>
                  <a:pt x="11539329" y="3220280"/>
                </a:cubicBezTo>
                <a:lnTo>
                  <a:pt x="11102011" y="3220280"/>
                </a:lnTo>
                <a:lnTo>
                  <a:pt x="11082130" y="3216266"/>
                </a:lnTo>
                <a:lnTo>
                  <a:pt x="11082130" y="6858000"/>
                </a:lnTo>
                <a:lnTo>
                  <a:pt x="0" y="6858000"/>
                </a:lnTo>
                <a:close/>
              </a:path>
            </a:pathLst>
          </a:custGeom>
          <a:solidFill>
            <a:srgbClr val="A162D0"/>
          </a:solidFill>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Forme libre : forme 8">
            <a:extLst>
              <a:ext uri="{FF2B5EF4-FFF2-40B4-BE49-F238E27FC236}">
                <a16:creationId xmlns:a16="http://schemas.microsoft.com/office/drawing/2014/main" id="{CA0CB63A-007A-289C-B00B-FE3C770602F5}"/>
              </a:ext>
            </a:extLst>
          </p:cNvPr>
          <p:cNvSpPr/>
          <p:nvPr/>
        </p:nvSpPr>
        <p:spPr>
          <a:xfrm>
            <a:off x="-6367669" y="-29817"/>
            <a:ext cx="11151704" cy="6887817"/>
          </a:xfrm>
          <a:custGeom>
            <a:avLst/>
            <a:gdLst>
              <a:gd name="csX0" fmla="*/ 0 w 11648662"/>
              <a:gd name="csY0" fmla="*/ 0 h 6858000"/>
              <a:gd name="csX1" fmla="*/ 11082130 w 11648662"/>
              <a:gd name="csY1" fmla="*/ 0 h 6858000"/>
              <a:gd name="csX2" fmla="*/ 11082130 w 11648662"/>
              <a:gd name="csY2" fmla="*/ 1186772 h 6858000"/>
              <a:gd name="csX3" fmla="*/ 11102011 w 11648662"/>
              <a:gd name="csY3" fmla="*/ 1182758 h 6858000"/>
              <a:gd name="csX4" fmla="*/ 11539329 w 11648662"/>
              <a:gd name="csY4" fmla="*/ 1182758 h 6858000"/>
              <a:gd name="csX5" fmla="*/ 11648662 w 11648662"/>
              <a:gd name="csY5" fmla="*/ 1292091 h 6858000"/>
              <a:gd name="csX6" fmla="*/ 11648662 w 11648662"/>
              <a:gd name="csY6" fmla="*/ 1798982 h 6858000"/>
              <a:gd name="csX7" fmla="*/ 11539329 w 11648662"/>
              <a:gd name="csY7" fmla="*/ 1908315 h 6858000"/>
              <a:gd name="csX8" fmla="*/ 11102011 w 11648662"/>
              <a:gd name="csY8" fmla="*/ 1908315 h 6858000"/>
              <a:gd name="csX9" fmla="*/ 11082130 w 11648662"/>
              <a:gd name="csY9" fmla="*/ 1904301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1186772"/>
                </a:lnTo>
                <a:lnTo>
                  <a:pt x="11102011" y="1182758"/>
                </a:lnTo>
                <a:lnTo>
                  <a:pt x="11539329" y="1182758"/>
                </a:lnTo>
                <a:cubicBezTo>
                  <a:pt x="11599712" y="1182758"/>
                  <a:pt x="11648662" y="1231708"/>
                  <a:pt x="11648662" y="1292091"/>
                </a:cubicBezTo>
                <a:lnTo>
                  <a:pt x="11648662" y="1798982"/>
                </a:lnTo>
                <a:cubicBezTo>
                  <a:pt x="11648662" y="1859365"/>
                  <a:pt x="11599712" y="1908315"/>
                  <a:pt x="11539329" y="1908315"/>
                </a:cubicBezTo>
                <a:lnTo>
                  <a:pt x="11102011" y="1908315"/>
                </a:lnTo>
                <a:lnTo>
                  <a:pt x="11082130" y="1904301"/>
                </a:lnTo>
                <a:lnTo>
                  <a:pt x="11082130" y="6858000"/>
                </a:lnTo>
                <a:lnTo>
                  <a:pt x="0" y="6858000"/>
                </a:lnTo>
                <a:close/>
              </a:path>
            </a:pathLst>
          </a:custGeom>
          <a:solidFill>
            <a:srgbClr val="C39BE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ZoneTexte 1">
            <a:extLst>
              <a:ext uri="{FF2B5EF4-FFF2-40B4-BE49-F238E27FC236}">
                <a16:creationId xmlns:a16="http://schemas.microsoft.com/office/drawing/2014/main" id="{9987E20D-ECA9-C1D3-F98D-6B355D82BD67}"/>
              </a:ext>
            </a:extLst>
          </p:cNvPr>
          <p:cNvSpPr txBox="1"/>
          <p:nvPr/>
        </p:nvSpPr>
        <p:spPr>
          <a:xfrm>
            <a:off x="11382518" y="3728720"/>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01</a:t>
            </a:r>
            <a:endParaRPr lang="fr-FR" sz="4000" dirty="0">
              <a:solidFill>
                <a:schemeClr val="bg1">
                  <a:alpha val="20000"/>
                </a:schemeClr>
              </a:solidFill>
              <a:latin typeface="Gill Sans Ultra Bold Condensed" panose="020B0A06020104020203" pitchFamily="34" charset="0"/>
            </a:endParaRPr>
          </a:p>
        </p:txBody>
      </p:sp>
      <p:sp>
        <p:nvSpPr>
          <p:cNvPr id="4" name="ZoneTexte 3">
            <a:extLst>
              <a:ext uri="{FF2B5EF4-FFF2-40B4-BE49-F238E27FC236}">
                <a16:creationId xmlns:a16="http://schemas.microsoft.com/office/drawing/2014/main" id="{0B7A0E29-5CBF-0314-BE03-B15C2D8B661B}"/>
              </a:ext>
            </a:extLst>
          </p:cNvPr>
          <p:cNvSpPr txBox="1"/>
          <p:nvPr/>
        </p:nvSpPr>
        <p:spPr>
          <a:xfrm>
            <a:off x="11050116" y="2519680"/>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02</a:t>
            </a:r>
            <a:endParaRPr lang="fr-FR" sz="4000" dirty="0">
              <a:solidFill>
                <a:schemeClr val="bg1">
                  <a:alpha val="20000"/>
                </a:schemeClr>
              </a:solidFill>
              <a:latin typeface="Gill Sans Ultra Bold Condensed" panose="020B0A06020104020203" pitchFamily="34" charset="0"/>
            </a:endParaRPr>
          </a:p>
        </p:txBody>
      </p:sp>
      <p:sp>
        <p:nvSpPr>
          <p:cNvPr id="5" name="ZoneTexte 4">
            <a:extLst>
              <a:ext uri="{FF2B5EF4-FFF2-40B4-BE49-F238E27FC236}">
                <a16:creationId xmlns:a16="http://schemas.microsoft.com/office/drawing/2014/main" id="{253FF7E2-3C4C-98CD-1548-80679182FE2C}"/>
              </a:ext>
            </a:extLst>
          </p:cNvPr>
          <p:cNvSpPr txBox="1"/>
          <p:nvPr/>
        </p:nvSpPr>
        <p:spPr>
          <a:xfrm>
            <a:off x="4784035" y="2546846"/>
            <a:ext cx="5925671" cy="1938992"/>
          </a:xfrm>
          <a:prstGeom prst="rect">
            <a:avLst/>
          </a:prstGeom>
          <a:noFill/>
        </p:spPr>
        <p:txBody>
          <a:bodyPr wrap="square" rtlCol="0">
            <a:spAutoFit/>
          </a:bodyPr>
          <a:lstStyle/>
          <a:p>
            <a:pPr algn="ctr"/>
            <a:r>
              <a:rPr lang="en-GB" sz="6000" b="1" dirty="0">
                <a:solidFill>
                  <a:srgbClr val="FFFFCC"/>
                </a:solidFill>
                <a:latin typeface="Book Antiqua" panose="02040602050305030304" pitchFamily="18" charset="0"/>
              </a:rPr>
              <a:t>Microsoft Tools</a:t>
            </a:r>
          </a:p>
          <a:p>
            <a:pPr algn="ctr"/>
            <a:endParaRPr lang="fr-FR" sz="6000" b="1" dirty="0"/>
          </a:p>
        </p:txBody>
      </p:sp>
      <p:sp>
        <p:nvSpPr>
          <p:cNvPr id="11" name="ZoneTexte 10">
            <a:extLst>
              <a:ext uri="{FF2B5EF4-FFF2-40B4-BE49-F238E27FC236}">
                <a16:creationId xmlns:a16="http://schemas.microsoft.com/office/drawing/2014/main" id="{2192DA4C-0215-3DD3-1358-3E62F372E4B3}"/>
              </a:ext>
            </a:extLst>
          </p:cNvPr>
          <p:cNvSpPr txBox="1"/>
          <p:nvPr/>
        </p:nvSpPr>
        <p:spPr>
          <a:xfrm>
            <a:off x="3887865" y="1157936"/>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03</a:t>
            </a:r>
            <a:endParaRPr lang="fr-FR" sz="4000" dirty="0">
              <a:solidFill>
                <a:schemeClr val="bg1">
                  <a:alpha val="20000"/>
                </a:schemeClr>
              </a:solidFill>
              <a:latin typeface="Gill Sans Ultra Bold Condensed" panose="020B0A06020104020203" pitchFamily="34" charset="0"/>
            </a:endParaRPr>
          </a:p>
        </p:txBody>
      </p:sp>
    </p:spTree>
    <p:extLst>
      <p:ext uri="{BB962C8B-B14F-4D97-AF65-F5344CB8AC3E}">
        <p14:creationId xmlns:p14="http://schemas.microsoft.com/office/powerpoint/2010/main" val="40630906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622E7F2-AB4B-FA58-58AA-E876D550DD7F}"/>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E5621A3F-67B6-5962-B0DC-CB9CFA783FFE}"/>
              </a:ext>
            </a:extLst>
          </p:cNvPr>
          <p:cNvSpPr/>
          <p:nvPr/>
        </p:nvSpPr>
        <p:spPr>
          <a:xfrm>
            <a:off x="722243" y="29818"/>
            <a:ext cx="11469757" cy="6798364"/>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8" name="Forme libre : forme 7">
            <a:extLst>
              <a:ext uri="{FF2B5EF4-FFF2-40B4-BE49-F238E27FC236}">
                <a16:creationId xmlns:a16="http://schemas.microsoft.com/office/drawing/2014/main" id="{C5E5394A-5CDC-3E01-FFCB-B8679EF404A2}"/>
              </a:ext>
            </a:extLst>
          </p:cNvPr>
          <p:cNvSpPr/>
          <p:nvPr/>
        </p:nvSpPr>
        <p:spPr>
          <a:xfrm>
            <a:off x="0" y="0"/>
            <a:ext cx="11873947" cy="6857997"/>
          </a:xfrm>
          <a:custGeom>
            <a:avLst/>
            <a:gdLst>
              <a:gd name="csX0" fmla="*/ 0 w 11648662"/>
              <a:gd name="csY0" fmla="*/ 0 h 6858000"/>
              <a:gd name="csX1" fmla="*/ 11082130 w 11648662"/>
              <a:gd name="csY1" fmla="*/ 0 h 6858000"/>
              <a:gd name="csX2" fmla="*/ 11082130 w 11648662"/>
              <a:gd name="csY2" fmla="*/ 2498737 h 6858000"/>
              <a:gd name="csX3" fmla="*/ 11102011 w 11648662"/>
              <a:gd name="csY3" fmla="*/ 2494723 h 6858000"/>
              <a:gd name="csX4" fmla="*/ 11539329 w 11648662"/>
              <a:gd name="csY4" fmla="*/ 2494723 h 6858000"/>
              <a:gd name="csX5" fmla="*/ 11648662 w 11648662"/>
              <a:gd name="csY5" fmla="*/ 2604056 h 6858000"/>
              <a:gd name="csX6" fmla="*/ 11648662 w 11648662"/>
              <a:gd name="csY6" fmla="*/ 3110947 h 6858000"/>
              <a:gd name="csX7" fmla="*/ 11539329 w 11648662"/>
              <a:gd name="csY7" fmla="*/ 3220280 h 6858000"/>
              <a:gd name="csX8" fmla="*/ 11102011 w 11648662"/>
              <a:gd name="csY8" fmla="*/ 3220280 h 6858000"/>
              <a:gd name="csX9" fmla="*/ 11082130 w 11648662"/>
              <a:gd name="csY9" fmla="*/ 3216266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2498737"/>
                </a:lnTo>
                <a:lnTo>
                  <a:pt x="11102011" y="2494723"/>
                </a:lnTo>
                <a:lnTo>
                  <a:pt x="11539329" y="2494723"/>
                </a:lnTo>
                <a:cubicBezTo>
                  <a:pt x="11599712" y="2494723"/>
                  <a:pt x="11648662" y="2543673"/>
                  <a:pt x="11648662" y="2604056"/>
                </a:cubicBezTo>
                <a:lnTo>
                  <a:pt x="11648662" y="3110947"/>
                </a:lnTo>
                <a:cubicBezTo>
                  <a:pt x="11648662" y="3171330"/>
                  <a:pt x="11599712" y="3220280"/>
                  <a:pt x="11539329" y="3220280"/>
                </a:cubicBezTo>
                <a:lnTo>
                  <a:pt x="11102011" y="3220280"/>
                </a:lnTo>
                <a:lnTo>
                  <a:pt x="11082130" y="3216266"/>
                </a:lnTo>
                <a:lnTo>
                  <a:pt x="11082130" y="6858000"/>
                </a:lnTo>
                <a:lnTo>
                  <a:pt x="0" y="6858000"/>
                </a:lnTo>
                <a:close/>
              </a:path>
            </a:pathLst>
          </a:custGeom>
          <a:solidFill>
            <a:srgbClr val="A162D0"/>
          </a:solidFill>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Forme libre : forme 8">
            <a:extLst>
              <a:ext uri="{FF2B5EF4-FFF2-40B4-BE49-F238E27FC236}">
                <a16:creationId xmlns:a16="http://schemas.microsoft.com/office/drawing/2014/main" id="{1B89BEF0-0891-0EF4-16CD-B965EA80F014}"/>
              </a:ext>
            </a:extLst>
          </p:cNvPr>
          <p:cNvSpPr/>
          <p:nvPr/>
        </p:nvSpPr>
        <p:spPr>
          <a:xfrm>
            <a:off x="-806825" y="3428998"/>
            <a:ext cx="445703" cy="1277935"/>
          </a:xfrm>
          <a:custGeom>
            <a:avLst/>
            <a:gdLst>
              <a:gd name="csX0" fmla="*/ 0 w 11648662"/>
              <a:gd name="csY0" fmla="*/ 0 h 6858000"/>
              <a:gd name="csX1" fmla="*/ 11082130 w 11648662"/>
              <a:gd name="csY1" fmla="*/ 0 h 6858000"/>
              <a:gd name="csX2" fmla="*/ 11082130 w 11648662"/>
              <a:gd name="csY2" fmla="*/ 1186772 h 6858000"/>
              <a:gd name="csX3" fmla="*/ 11102011 w 11648662"/>
              <a:gd name="csY3" fmla="*/ 1182758 h 6858000"/>
              <a:gd name="csX4" fmla="*/ 11539329 w 11648662"/>
              <a:gd name="csY4" fmla="*/ 1182758 h 6858000"/>
              <a:gd name="csX5" fmla="*/ 11648662 w 11648662"/>
              <a:gd name="csY5" fmla="*/ 1292091 h 6858000"/>
              <a:gd name="csX6" fmla="*/ 11648662 w 11648662"/>
              <a:gd name="csY6" fmla="*/ 1798982 h 6858000"/>
              <a:gd name="csX7" fmla="*/ 11539329 w 11648662"/>
              <a:gd name="csY7" fmla="*/ 1908315 h 6858000"/>
              <a:gd name="csX8" fmla="*/ 11102011 w 11648662"/>
              <a:gd name="csY8" fmla="*/ 1908315 h 6858000"/>
              <a:gd name="csX9" fmla="*/ 11082130 w 11648662"/>
              <a:gd name="csY9" fmla="*/ 1904301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1186772"/>
                </a:lnTo>
                <a:lnTo>
                  <a:pt x="11102011" y="1182758"/>
                </a:lnTo>
                <a:lnTo>
                  <a:pt x="11539329" y="1182758"/>
                </a:lnTo>
                <a:cubicBezTo>
                  <a:pt x="11599712" y="1182758"/>
                  <a:pt x="11648662" y="1231708"/>
                  <a:pt x="11648662" y="1292091"/>
                </a:cubicBezTo>
                <a:lnTo>
                  <a:pt x="11648662" y="1798982"/>
                </a:lnTo>
                <a:cubicBezTo>
                  <a:pt x="11648662" y="1859365"/>
                  <a:pt x="11599712" y="1908315"/>
                  <a:pt x="11539329" y="1908315"/>
                </a:cubicBezTo>
                <a:lnTo>
                  <a:pt x="11102011" y="1908315"/>
                </a:lnTo>
                <a:lnTo>
                  <a:pt x="11082130" y="1904301"/>
                </a:lnTo>
                <a:lnTo>
                  <a:pt x="11082130" y="6858000"/>
                </a:lnTo>
                <a:lnTo>
                  <a:pt x="0" y="6858000"/>
                </a:lnTo>
                <a:close/>
              </a:path>
            </a:pathLst>
          </a:custGeom>
          <a:solidFill>
            <a:srgbClr val="C39BE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ZoneTexte 1">
            <a:extLst>
              <a:ext uri="{FF2B5EF4-FFF2-40B4-BE49-F238E27FC236}">
                <a16:creationId xmlns:a16="http://schemas.microsoft.com/office/drawing/2014/main" id="{2CEC2BC8-1373-CCD0-25D1-DFC4FB21454C}"/>
              </a:ext>
            </a:extLst>
          </p:cNvPr>
          <p:cNvSpPr txBox="1"/>
          <p:nvPr/>
        </p:nvSpPr>
        <p:spPr>
          <a:xfrm>
            <a:off x="11382518" y="3728720"/>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01</a:t>
            </a:r>
            <a:endParaRPr lang="fr-FR" sz="4000" dirty="0">
              <a:solidFill>
                <a:schemeClr val="bg1">
                  <a:alpha val="20000"/>
                </a:schemeClr>
              </a:solidFill>
              <a:latin typeface="Gill Sans Ultra Bold Condensed" panose="020B0A06020104020203" pitchFamily="34" charset="0"/>
            </a:endParaRPr>
          </a:p>
        </p:txBody>
      </p:sp>
      <p:sp>
        <p:nvSpPr>
          <p:cNvPr id="4" name="ZoneTexte 3">
            <a:extLst>
              <a:ext uri="{FF2B5EF4-FFF2-40B4-BE49-F238E27FC236}">
                <a16:creationId xmlns:a16="http://schemas.microsoft.com/office/drawing/2014/main" id="{36BCF6B0-966D-D8AF-F19F-DE0F81880C38}"/>
              </a:ext>
            </a:extLst>
          </p:cNvPr>
          <p:cNvSpPr txBox="1"/>
          <p:nvPr/>
        </p:nvSpPr>
        <p:spPr>
          <a:xfrm>
            <a:off x="11050116" y="2519680"/>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02</a:t>
            </a:r>
            <a:endParaRPr lang="fr-FR" sz="4000" dirty="0">
              <a:solidFill>
                <a:schemeClr val="bg1">
                  <a:alpha val="20000"/>
                </a:schemeClr>
              </a:solidFill>
              <a:latin typeface="Gill Sans Ultra Bold Condensed" panose="020B0A06020104020203" pitchFamily="34" charset="0"/>
            </a:endParaRPr>
          </a:p>
        </p:txBody>
      </p:sp>
      <p:sp>
        <p:nvSpPr>
          <p:cNvPr id="5" name="ZoneTexte 4">
            <a:extLst>
              <a:ext uri="{FF2B5EF4-FFF2-40B4-BE49-F238E27FC236}">
                <a16:creationId xmlns:a16="http://schemas.microsoft.com/office/drawing/2014/main" id="{5524EFA6-CFFC-9B35-36E4-56FC714FEF77}"/>
              </a:ext>
            </a:extLst>
          </p:cNvPr>
          <p:cNvSpPr txBox="1"/>
          <p:nvPr/>
        </p:nvSpPr>
        <p:spPr>
          <a:xfrm>
            <a:off x="3890683" y="164288"/>
            <a:ext cx="3850640" cy="1015663"/>
          </a:xfrm>
          <a:prstGeom prst="rect">
            <a:avLst/>
          </a:prstGeom>
          <a:noFill/>
        </p:spPr>
        <p:txBody>
          <a:bodyPr wrap="square" rtlCol="0">
            <a:spAutoFit/>
          </a:bodyPr>
          <a:lstStyle/>
          <a:p>
            <a:pPr algn="ctr"/>
            <a:r>
              <a:rPr lang="en-GB" sz="3000" b="1" dirty="0">
                <a:solidFill>
                  <a:srgbClr val="FFFFCC"/>
                </a:solidFill>
                <a:latin typeface="Book Antiqua" panose="02040602050305030304" pitchFamily="18" charset="0"/>
              </a:rPr>
              <a:t>Microsoft Tools</a:t>
            </a:r>
          </a:p>
          <a:p>
            <a:pPr algn="ctr"/>
            <a:endParaRPr lang="fr-FR" sz="3000" b="1" dirty="0"/>
          </a:p>
        </p:txBody>
      </p:sp>
      <p:sp>
        <p:nvSpPr>
          <p:cNvPr id="11" name="ZoneTexte 10">
            <a:extLst>
              <a:ext uri="{FF2B5EF4-FFF2-40B4-BE49-F238E27FC236}">
                <a16:creationId xmlns:a16="http://schemas.microsoft.com/office/drawing/2014/main" id="{7248351E-AA8E-C49A-D593-778BE4CC63C0}"/>
              </a:ext>
            </a:extLst>
          </p:cNvPr>
          <p:cNvSpPr txBox="1"/>
          <p:nvPr/>
        </p:nvSpPr>
        <p:spPr>
          <a:xfrm>
            <a:off x="3758546" y="693188"/>
            <a:ext cx="3926353" cy="369332"/>
          </a:xfrm>
          <a:prstGeom prst="rect">
            <a:avLst/>
          </a:prstGeom>
          <a:noFill/>
        </p:spPr>
        <p:txBody>
          <a:bodyPr wrap="square" rtlCol="0">
            <a:spAutoFit/>
          </a:bodyPr>
          <a:lstStyle/>
          <a:p>
            <a:pPr algn="ctr"/>
            <a:r>
              <a:rPr lang="en-GB" noProof="0" dirty="0">
                <a:solidFill>
                  <a:srgbClr val="FFFFCC"/>
                </a:solidFill>
                <a:latin typeface="Book Antiqua" panose="02040602050305030304" pitchFamily="18" charset="0"/>
              </a:rPr>
              <a:t>Word, Excel, and PowerPoint</a:t>
            </a:r>
            <a:endParaRPr lang="en-GB" noProof="0" dirty="0"/>
          </a:p>
        </p:txBody>
      </p:sp>
      <p:sp>
        <p:nvSpPr>
          <p:cNvPr id="12" name="ZoneTexte 11">
            <a:extLst>
              <a:ext uri="{FF2B5EF4-FFF2-40B4-BE49-F238E27FC236}">
                <a16:creationId xmlns:a16="http://schemas.microsoft.com/office/drawing/2014/main" id="{EB45740F-8C48-0BC9-C56D-67CE510C8561}"/>
              </a:ext>
            </a:extLst>
          </p:cNvPr>
          <p:cNvSpPr txBox="1"/>
          <p:nvPr/>
        </p:nvSpPr>
        <p:spPr>
          <a:xfrm>
            <a:off x="638733" y="1387965"/>
            <a:ext cx="5641043" cy="2831544"/>
          </a:xfrm>
          <a:prstGeom prst="rect">
            <a:avLst/>
          </a:prstGeom>
          <a:noFill/>
        </p:spPr>
        <p:txBody>
          <a:bodyPr wrap="square" rtlCol="0">
            <a:spAutoFit/>
          </a:bodyPr>
          <a:lstStyle/>
          <a:p>
            <a:r>
              <a:rPr lang="en-GB" sz="2000" dirty="0">
                <a:solidFill>
                  <a:srgbClr val="FFFFCC"/>
                </a:solidFill>
                <a:latin typeface="Book Antiqua" panose="02040602050305030304" pitchFamily="18" charset="0"/>
              </a:rPr>
              <a:t>Word, Excel, and PowerPoint </a:t>
            </a:r>
          </a:p>
          <a:p>
            <a:r>
              <a:rPr lang="en-GB" sz="2000" dirty="0">
                <a:solidFill>
                  <a:schemeClr val="bg1"/>
                </a:solidFill>
                <a:latin typeface="Book Antiqua" panose="02040602050305030304" pitchFamily="18" charset="0"/>
              </a:rPr>
              <a:t>are core Microsoft Office apps: </a:t>
            </a:r>
            <a:r>
              <a:rPr lang="en-GB" sz="2000" b="1" dirty="0">
                <a:solidFill>
                  <a:schemeClr val="bg1"/>
                </a:solidFill>
                <a:latin typeface="Book Antiqua" panose="02040602050305030304" pitchFamily="18" charset="0"/>
              </a:rPr>
              <a:t>Word</a:t>
            </a:r>
            <a:r>
              <a:rPr lang="en-GB" sz="2000" dirty="0">
                <a:solidFill>
                  <a:schemeClr val="bg1"/>
                </a:solidFill>
                <a:latin typeface="Book Antiqua" panose="02040602050305030304" pitchFamily="18" charset="0"/>
              </a:rPr>
              <a:t> is for creating text-based documents (letters, reports); </a:t>
            </a:r>
            <a:r>
              <a:rPr lang="en-GB" sz="2000" b="1" dirty="0">
                <a:solidFill>
                  <a:schemeClr val="bg1"/>
                </a:solidFill>
                <a:latin typeface="Book Antiqua" panose="02040602050305030304" pitchFamily="18" charset="0"/>
              </a:rPr>
              <a:t>Excel</a:t>
            </a:r>
            <a:r>
              <a:rPr lang="en-GB" sz="2000" dirty="0">
                <a:solidFill>
                  <a:schemeClr val="bg1"/>
                </a:solidFill>
                <a:latin typeface="Book Antiqua" panose="02040602050305030304" pitchFamily="18" charset="0"/>
              </a:rPr>
              <a:t> manages data in grids, performing calculations with spreadsheets and formulas; and </a:t>
            </a:r>
            <a:r>
              <a:rPr lang="en-GB" sz="2000" b="1" dirty="0">
                <a:solidFill>
                  <a:schemeClr val="bg1"/>
                </a:solidFill>
                <a:latin typeface="Book Antiqua" panose="02040602050305030304" pitchFamily="18" charset="0"/>
              </a:rPr>
              <a:t>PowerPoint</a:t>
            </a:r>
            <a:r>
              <a:rPr lang="en-GB" sz="2000" dirty="0">
                <a:solidFill>
                  <a:schemeClr val="bg1"/>
                </a:solidFill>
                <a:latin typeface="Book Antiqua" panose="02040602050305030304" pitchFamily="18" charset="0"/>
              </a:rPr>
              <a:t> designs visual slide shows for presentations, incorporating text, images, and multimedia. </a:t>
            </a:r>
          </a:p>
          <a:p>
            <a:endParaRPr lang="fr-FR" dirty="0"/>
          </a:p>
        </p:txBody>
      </p:sp>
      <p:pic>
        <p:nvPicPr>
          <p:cNvPr id="13" name="Picture 2" descr="‪Word or Excel or PowerPoint?‬‏">
            <a:extLst>
              <a:ext uri="{FF2B5EF4-FFF2-40B4-BE49-F238E27FC236}">
                <a16:creationId xmlns:a16="http://schemas.microsoft.com/office/drawing/2014/main" id="{9692E42A-EE38-056D-38DB-88CD0D8295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739965"/>
            <a:ext cx="4078789" cy="242484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2188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3DEF81D-CB98-ED01-E0B0-112C11F9AEED}"/>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24EA5FE6-3CB2-5CCC-0F4D-9CF610EB0704}"/>
              </a:ext>
            </a:extLst>
          </p:cNvPr>
          <p:cNvSpPr/>
          <p:nvPr/>
        </p:nvSpPr>
        <p:spPr>
          <a:xfrm>
            <a:off x="722243" y="29818"/>
            <a:ext cx="11469757" cy="6798364"/>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8" name="Forme libre : forme 7">
            <a:extLst>
              <a:ext uri="{FF2B5EF4-FFF2-40B4-BE49-F238E27FC236}">
                <a16:creationId xmlns:a16="http://schemas.microsoft.com/office/drawing/2014/main" id="{5E2E2380-1217-B35D-184A-9E41730E3932}"/>
              </a:ext>
            </a:extLst>
          </p:cNvPr>
          <p:cNvSpPr/>
          <p:nvPr/>
        </p:nvSpPr>
        <p:spPr>
          <a:xfrm>
            <a:off x="0" y="0"/>
            <a:ext cx="11873947" cy="6857997"/>
          </a:xfrm>
          <a:custGeom>
            <a:avLst/>
            <a:gdLst>
              <a:gd name="csX0" fmla="*/ 0 w 11648662"/>
              <a:gd name="csY0" fmla="*/ 0 h 6858000"/>
              <a:gd name="csX1" fmla="*/ 11082130 w 11648662"/>
              <a:gd name="csY1" fmla="*/ 0 h 6858000"/>
              <a:gd name="csX2" fmla="*/ 11082130 w 11648662"/>
              <a:gd name="csY2" fmla="*/ 2498737 h 6858000"/>
              <a:gd name="csX3" fmla="*/ 11102011 w 11648662"/>
              <a:gd name="csY3" fmla="*/ 2494723 h 6858000"/>
              <a:gd name="csX4" fmla="*/ 11539329 w 11648662"/>
              <a:gd name="csY4" fmla="*/ 2494723 h 6858000"/>
              <a:gd name="csX5" fmla="*/ 11648662 w 11648662"/>
              <a:gd name="csY5" fmla="*/ 2604056 h 6858000"/>
              <a:gd name="csX6" fmla="*/ 11648662 w 11648662"/>
              <a:gd name="csY6" fmla="*/ 3110947 h 6858000"/>
              <a:gd name="csX7" fmla="*/ 11539329 w 11648662"/>
              <a:gd name="csY7" fmla="*/ 3220280 h 6858000"/>
              <a:gd name="csX8" fmla="*/ 11102011 w 11648662"/>
              <a:gd name="csY8" fmla="*/ 3220280 h 6858000"/>
              <a:gd name="csX9" fmla="*/ 11082130 w 11648662"/>
              <a:gd name="csY9" fmla="*/ 3216266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2498737"/>
                </a:lnTo>
                <a:lnTo>
                  <a:pt x="11102011" y="2494723"/>
                </a:lnTo>
                <a:lnTo>
                  <a:pt x="11539329" y="2494723"/>
                </a:lnTo>
                <a:cubicBezTo>
                  <a:pt x="11599712" y="2494723"/>
                  <a:pt x="11648662" y="2543673"/>
                  <a:pt x="11648662" y="2604056"/>
                </a:cubicBezTo>
                <a:lnTo>
                  <a:pt x="11648662" y="3110947"/>
                </a:lnTo>
                <a:cubicBezTo>
                  <a:pt x="11648662" y="3171330"/>
                  <a:pt x="11599712" y="3220280"/>
                  <a:pt x="11539329" y="3220280"/>
                </a:cubicBezTo>
                <a:lnTo>
                  <a:pt x="11102011" y="3220280"/>
                </a:lnTo>
                <a:lnTo>
                  <a:pt x="11082130" y="3216266"/>
                </a:lnTo>
                <a:lnTo>
                  <a:pt x="11082130" y="6858000"/>
                </a:lnTo>
                <a:lnTo>
                  <a:pt x="0" y="6858000"/>
                </a:lnTo>
                <a:close/>
              </a:path>
            </a:pathLst>
          </a:custGeom>
          <a:solidFill>
            <a:srgbClr val="A162D0"/>
          </a:solidFill>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Forme libre : forme 8">
            <a:extLst>
              <a:ext uri="{FF2B5EF4-FFF2-40B4-BE49-F238E27FC236}">
                <a16:creationId xmlns:a16="http://schemas.microsoft.com/office/drawing/2014/main" id="{EE1CE7B5-A768-8A3A-B8ED-923FDEEAC5DD}"/>
              </a:ext>
            </a:extLst>
          </p:cNvPr>
          <p:cNvSpPr/>
          <p:nvPr/>
        </p:nvSpPr>
        <p:spPr>
          <a:xfrm>
            <a:off x="-1718957" y="59633"/>
            <a:ext cx="445703" cy="6798364"/>
          </a:xfrm>
          <a:custGeom>
            <a:avLst/>
            <a:gdLst>
              <a:gd name="csX0" fmla="*/ 0 w 11648662"/>
              <a:gd name="csY0" fmla="*/ 0 h 6858000"/>
              <a:gd name="csX1" fmla="*/ 11082130 w 11648662"/>
              <a:gd name="csY1" fmla="*/ 0 h 6858000"/>
              <a:gd name="csX2" fmla="*/ 11082130 w 11648662"/>
              <a:gd name="csY2" fmla="*/ 1186772 h 6858000"/>
              <a:gd name="csX3" fmla="*/ 11102011 w 11648662"/>
              <a:gd name="csY3" fmla="*/ 1182758 h 6858000"/>
              <a:gd name="csX4" fmla="*/ 11539329 w 11648662"/>
              <a:gd name="csY4" fmla="*/ 1182758 h 6858000"/>
              <a:gd name="csX5" fmla="*/ 11648662 w 11648662"/>
              <a:gd name="csY5" fmla="*/ 1292091 h 6858000"/>
              <a:gd name="csX6" fmla="*/ 11648662 w 11648662"/>
              <a:gd name="csY6" fmla="*/ 1798982 h 6858000"/>
              <a:gd name="csX7" fmla="*/ 11539329 w 11648662"/>
              <a:gd name="csY7" fmla="*/ 1908315 h 6858000"/>
              <a:gd name="csX8" fmla="*/ 11102011 w 11648662"/>
              <a:gd name="csY8" fmla="*/ 1908315 h 6858000"/>
              <a:gd name="csX9" fmla="*/ 11082130 w 11648662"/>
              <a:gd name="csY9" fmla="*/ 1904301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1186772"/>
                </a:lnTo>
                <a:lnTo>
                  <a:pt x="11102011" y="1182758"/>
                </a:lnTo>
                <a:lnTo>
                  <a:pt x="11539329" y="1182758"/>
                </a:lnTo>
                <a:cubicBezTo>
                  <a:pt x="11599712" y="1182758"/>
                  <a:pt x="11648662" y="1231708"/>
                  <a:pt x="11648662" y="1292091"/>
                </a:cubicBezTo>
                <a:lnTo>
                  <a:pt x="11648662" y="1798982"/>
                </a:lnTo>
                <a:cubicBezTo>
                  <a:pt x="11648662" y="1859365"/>
                  <a:pt x="11599712" y="1908315"/>
                  <a:pt x="11539329" y="1908315"/>
                </a:cubicBezTo>
                <a:lnTo>
                  <a:pt x="11102011" y="1908315"/>
                </a:lnTo>
                <a:lnTo>
                  <a:pt x="11082130" y="1904301"/>
                </a:lnTo>
                <a:lnTo>
                  <a:pt x="11082130" y="6858000"/>
                </a:lnTo>
                <a:lnTo>
                  <a:pt x="0" y="6858000"/>
                </a:lnTo>
                <a:close/>
              </a:path>
            </a:pathLst>
          </a:custGeom>
          <a:solidFill>
            <a:srgbClr val="C39BE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ZoneTexte 1">
            <a:extLst>
              <a:ext uri="{FF2B5EF4-FFF2-40B4-BE49-F238E27FC236}">
                <a16:creationId xmlns:a16="http://schemas.microsoft.com/office/drawing/2014/main" id="{7AA449B1-49DD-762E-3CDE-CD4406547A37}"/>
              </a:ext>
            </a:extLst>
          </p:cNvPr>
          <p:cNvSpPr txBox="1"/>
          <p:nvPr/>
        </p:nvSpPr>
        <p:spPr>
          <a:xfrm>
            <a:off x="11382518" y="3728720"/>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01</a:t>
            </a:r>
            <a:endParaRPr lang="fr-FR" sz="4000" dirty="0">
              <a:solidFill>
                <a:schemeClr val="bg1">
                  <a:alpha val="20000"/>
                </a:schemeClr>
              </a:solidFill>
              <a:latin typeface="Gill Sans Ultra Bold Condensed" panose="020B0A06020104020203" pitchFamily="34" charset="0"/>
            </a:endParaRPr>
          </a:p>
        </p:txBody>
      </p:sp>
      <p:sp>
        <p:nvSpPr>
          <p:cNvPr id="4" name="ZoneTexte 3">
            <a:extLst>
              <a:ext uri="{FF2B5EF4-FFF2-40B4-BE49-F238E27FC236}">
                <a16:creationId xmlns:a16="http://schemas.microsoft.com/office/drawing/2014/main" id="{B110F34E-C333-02EC-19EC-C81232611619}"/>
              </a:ext>
            </a:extLst>
          </p:cNvPr>
          <p:cNvSpPr txBox="1"/>
          <p:nvPr/>
        </p:nvSpPr>
        <p:spPr>
          <a:xfrm>
            <a:off x="11050116" y="2519680"/>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02</a:t>
            </a:r>
            <a:endParaRPr lang="fr-FR" sz="4000" dirty="0">
              <a:solidFill>
                <a:schemeClr val="bg1">
                  <a:alpha val="20000"/>
                </a:schemeClr>
              </a:solidFill>
              <a:latin typeface="Gill Sans Ultra Bold Condensed" panose="020B0A06020104020203" pitchFamily="34" charset="0"/>
            </a:endParaRPr>
          </a:p>
        </p:txBody>
      </p:sp>
      <p:sp>
        <p:nvSpPr>
          <p:cNvPr id="5" name="ZoneTexte 4">
            <a:extLst>
              <a:ext uri="{FF2B5EF4-FFF2-40B4-BE49-F238E27FC236}">
                <a16:creationId xmlns:a16="http://schemas.microsoft.com/office/drawing/2014/main" id="{0A524DCF-DE82-1203-71C6-8101146AD352}"/>
              </a:ext>
            </a:extLst>
          </p:cNvPr>
          <p:cNvSpPr txBox="1"/>
          <p:nvPr/>
        </p:nvSpPr>
        <p:spPr>
          <a:xfrm>
            <a:off x="3890683" y="164288"/>
            <a:ext cx="3850640" cy="1015663"/>
          </a:xfrm>
          <a:prstGeom prst="rect">
            <a:avLst/>
          </a:prstGeom>
          <a:noFill/>
        </p:spPr>
        <p:txBody>
          <a:bodyPr wrap="square" rtlCol="0">
            <a:spAutoFit/>
          </a:bodyPr>
          <a:lstStyle/>
          <a:p>
            <a:pPr algn="ctr"/>
            <a:r>
              <a:rPr lang="en-GB" sz="3000" b="1" dirty="0">
                <a:solidFill>
                  <a:srgbClr val="FFFFCC"/>
                </a:solidFill>
                <a:latin typeface="Book Antiqua" panose="02040602050305030304" pitchFamily="18" charset="0"/>
              </a:rPr>
              <a:t>Microsoft Tools</a:t>
            </a:r>
          </a:p>
          <a:p>
            <a:pPr algn="ctr"/>
            <a:endParaRPr lang="fr-FR" sz="3000" b="1" dirty="0"/>
          </a:p>
        </p:txBody>
      </p:sp>
      <p:sp>
        <p:nvSpPr>
          <p:cNvPr id="11" name="ZoneTexte 10">
            <a:extLst>
              <a:ext uri="{FF2B5EF4-FFF2-40B4-BE49-F238E27FC236}">
                <a16:creationId xmlns:a16="http://schemas.microsoft.com/office/drawing/2014/main" id="{B0AAA99D-9F2F-53FE-F844-7F8EF3B0A4BD}"/>
              </a:ext>
            </a:extLst>
          </p:cNvPr>
          <p:cNvSpPr txBox="1"/>
          <p:nvPr/>
        </p:nvSpPr>
        <p:spPr>
          <a:xfrm>
            <a:off x="3758546" y="693188"/>
            <a:ext cx="3926353" cy="369332"/>
          </a:xfrm>
          <a:prstGeom prst="rect">
            <a:avLst/>
          </a:prstGeom>
          <a:noFill/>
        </p:spPr>
        <p:txBody>
          <a:bodyPr wrap="square" rtlCol="0">
            <a:spAutoFit/>
          </a:bodyPr>
          <a:lstStyle/>
          <a:p>
            <a:pPr algn="ctr"/>
            <a:r>
              <a:rPr lang="en-GB" dirty="0">
                <a:solidFill>
                  <a:srgbClr val="FFFFCC"/>
                </a:solidFill>
                <a:latin typeface="Book Antiqua" panose="02040602050305030304" pitchFamily="18" charset="0"/>
              </a:rPr>
              <a:t>Microsoft Teams OneDrive</a:t>
            </a:r>
            <a:endParaRPr lang="en-GB" noProof="0" dirty="0"/>
          </a:p>
        </p:txBody>
      </p:sp>
      <p:sp>
        <p:nvSpPr>
          <p:cNvPr id="6" name="ZoneTexte 5">
            <a:extLst>
              <a:ext uri="{FF2B5EF4-FFF2-40B4-BE49-F238E27FC236}">
                <a16:creationId xmlns:a16="http://schemas.microsoft.com/office/drawing/2014/main" id="{A4BCAD6A-B356-04CC-03EC-74BBC38604E3}"/>
              </a:ext>
            </a:extLst>
          </p:cNvPr>
          <p:cNvSpPr txBox="1"/>
          <p:nvPr/>
        </p:nvSpPr>
        <p:spPr>
          <a:xfrm>
            <a:off x="548868" y="1533986"/>
            <a:ext cx="5810864" cy="1446550"/>
          </a:xfrm>
          <a:prstGeom prst="rect">
            <a:avLst/>
          </a:prstGeom>
          <a:noFill/>
        </p:spPr>
        <p:txBody>
          <a:bodyPr wrap="square" rtlCol="0">
            <a:spAutoFit/>
          </a:bodyPr>
          <a:lstStyle/>
          <a:p>
            <a:pPr marL="342900" indent="-342900">
              <a:buFont typeface="Arial" panose="020B0604020202020204" pitchFamily="34" charset="0"/>
              <a:buChar char="•"/>
            </a:pPr>
            <a:r>
              <a:rPr lang="en-GB" sz="2200" noProof="0" dirty="0">
                <a:solidFill>
                  <a:srgbClr val="FFFFCC"/>
                </a:solidFill>
                <a:latin typeface="Book Antiqua" panose="02040602050305030304" pitchFamily="18" charset="0"/>
              </a:rPr>
              <a:t>Microsoft Teams </a:t>
            </a:r>
            <a:r>
              <a:rPr lang="en-GB" sz="2200" noProof="0" dirty="0">
                <a:solidFill>
                  <a:schemeClr val="bg1"/>
                </a:solidFill>
                <a:latin typeface="Book Antiqua" panose="02040602050305030304" pitchFamily="18" charset="0"/>
              </a:rPr>
              <a:t>is a collaboration hub for chatting, meetings, and teamwork</a:t>
            </a:r>
          </a:p>
          <a:p>
            <a:pPr marL="342900" indent="-342900">
              <a:buFont typeface="Arial" panose="020B0604020202020204" pitchFamily="34" charset="0"/>
              <a:buChar char="•"/>
            </a:pPr>
            <a:r>
              <a:rPr lang="en-GB" sz="2200" noProof="0" dirty="0">
                <a:solidFill>
                  <a:srgbClr val="FFFFCC"/>
                </a:solidFill>
                <a:latin typeface="Book Antiqua" panose="02040602050305030304" pitchFamily="18" charset="0"/>
              </a:rPr>
              <a:t>OneDrive</a:t>
            </a:r>
            <a:r>
              <a:rPr lang="en-GB" sz="2200" noProof="0" dirty="0">
                <a:solidFill>
                  <a:schemeClr val="bg1"/>
                </a:solidFill>
                <a:latin typeface="Book Antiqua" panose="02040602050305030304" pitchFamily="18" charset="0"/>
              </a:rPr>
              <a:t> is personal cloud storage for individual files, syncing across devices.</a:t>
            </a:r>
          </a:p>
        </p:txBody>
      </p:sp>
      <p:pic>
        <p:nvPicPr>
          <p:cNvPr id="7" name="Picture 2" descr="‪New Cutting-Edge Features in OneDrive and Teams | Makios IT‬‏">
            <a:extLst>
              <a:ext uri="{FF2B5EF4-FFF2-40B4-BE49-F238E27FC236}">
                <a16:creationId xmlns:a16="http://schemas.microsoft.com/office/drawing/2014/main" id="{88212C59-EBB6-B796-0372-4D9CCA8646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3218" y="3273017"/>
            <a:ext cx="4876210" cy="2438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2111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F844EB3F-9C06-A37D-59DE-A13FD3662B72}"/>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0FF9802B-B7C5-4208-C3D2-55A263B81F9D}"/>
              </a:ext>
            </a:extLst>
          </p:cNvPr>
          <p:cNvSpPr/>
          <p:nvPr/>
        </p:nvSpPr>
        <p:spPr>
          <a:xfrm>
            <a:off x="722243" y="29818"/>
            <a:ext cx="11469757" cy="6798364"/>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8" name="Forme libre : forme 7">
            <a:extLst>
              <a:ext uri="{FF2B5EF4-FFF2-40B4-BE49-F238E27FC236}">
                <a16:creationId xmlns:a16="http://schemas.microsoft.com/office/drawing/2014/main" id="{DD7B446F-63D2-F901-BFAA-848E73721951}"/>
              </a:ext>
            </a:extLst>
          </p:cNvPr>
          <p:cNvSpPr/>
          <p:nvPr/>
        </p:nvSpPr>
        <p:spPr>
          <a:xfrm>
            <a:off x="722243" y="0"/>
            <a:ext cx="11151704" cy="6857997"/>
          </a:xfrm>
          <a:custGeom>
            <a:avLst/>
            <a:gdLst>
              <a:gd name="csX0" fmla="*/ 0 w 11648662"/>
              <a:gd name="csY0" fmla="*/ 0 h 6858000"/>
              <a:gd name="csX1" fmla="*/ 11082130 w 11648662"/>
              <a:gd name="csY1" fmla="*/ 0 h 6858000"/>
              <a:gd name="csX2" fmla="*/ 11082130 w 11648662"/>
              <a:gd name="csY2" fmla="*/ 2498737 h 6858000"/>
              <a:gd name="csX3" fmla="*/ 11102011 w 11648662"/>
              <a:gd name="csY3" fmla="*/ 2494723 h 6858000"/>
              <a:gd name="csX4" fmla="*/ 11539329 w 11648662"/>
              <a:gd name="csY4" fmla="*/ 2494723 h 6858000"/>
              <a:gd name="csX5" fmla="*/ 11648662 w 11648662"/>
              <a:gd name="csY5" fmla="*/ 2604056 h 6858000"/>
              <a:gd name="csX6" fmla="*/ 11648662 w 11648662"/>
              <a:gd name="csY6" fmla="*/ 3110947 h 6858000"/>
              <a:gd name="csX7" fmla="*/ 11539329 w 11648662"/>
              <a:gd name="csY7" fmla="*/ 3220280 h 6858000"/>
              <a:gd name="csX8" fmla="*/ 11102011 w 11648662"/>
              <a:gd name="csY8" fmla="*/ 3220280 h 6858000"/>
              <a:gd name="csX9" fmla="*/ 11082130 w 11648662"/>
              <a:gd name="csY9" fmla="*/ 3216266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2498737"/>
                </a:lnTo>
                <a:lnTo>
                  <a:pt x="11102011" y="2494723"/>
                </a:lnTo>
                <a:lnTo>
                  <a:pt x="11539329" y="2494723"/>
                </a:lnTo>
                <a:cubicBezTo>
                  <a:pt x="11599712" y="2494723"/>
                  <a:pt x="11648662" y="2543673"/>
                  <a:pt x="11648662" y="2604056"/>
                </a:cubicBezTo>
                <a:lnTo>
                  <a:pt x="11648662" y="3110947"/>
                </a:lnTo>
                <a:cubicBezTo>
                  <a:pt x="11648662" y="3171330"/>
                  <a:pt x="11599712" y="3220280"/>
                  <a:pt x="11539329" y="3220280"/>
                </a:cubicBezTo>
                <a:lnTo>
                  <a:pt x="11102011" y="3220280"/>
                </a:lnTo>
                <a:lnTo>
                  <a:pt x="11082130" y="3216266"/>
                </a:lnTo>
                <a:lnTo>
                  <a:pt x="11082130" y="6858000"/>
                </a:lnTo>
                <a:lnTo>
                  <a:pt x="0" y="6858000"/>
                </a:lnTo>
                <a:close/>
              </a:path>
            </a:pathLst>
          </a:custGeom>
          <a:solidFill>
            <a:srgbClr val="A162D0"/>
          </a:solidFill>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Forme libre : forme 8">
            <a:extLst>
              <a:ext uri="{FF2B5EF4-FFF2-40B4-BE49-F238E27FC236}">
                <a16:creationId xmlns:a16="http://schemas.microsoft.com/office/drawing/2014/main" id="{D66CCDE9-2BC3-308B-C48E-E872A8992B8F}"/>
              </a:ext>
            </a:extLst>
          </p:cNvPr>
          <p:cNvSpPr/>
          <p:nvPr/>
        </p:nvSpPr>
        <p:spPr>
          <a:xfrm>
            <a:off x="0" y="-59635"/>
            <a:ext cx="11555894" cy="6887817"/>
          </a:xfrm>
          <a:custGeom>
            <a:avLst/>
            <a:gdLst>
              <a:gd name="csX0" fmla="*/ 0 w 11648662"/>
              <a:gd name="csY0" fmla="*/ 0 h 6858000"/>
              <a:gd name="csX1" fmla="*/ 11082130 w 11648662"/>
              <a:gd name="csY1" fmla="*/ 0 h 6858000"/>
              <a:gd name="csX2" fmla="*/ 11082130 w 11648662"/>
              <a:gd name="csY2" fmla="*/ 1186772 h 6858000"/>
              <a:gd name="csX3" fmla="*/ 11102011 w 11648662"/>
              <a:gd name="csY3" fmla="*/ 1182758 h 6858000"/>
              <a:gd name="csX4" fmla="*/ 11539329 w 11648662"/>
              <a:gd name="csY4" fmla="*/ 1182758 h 6858000"/>
              <a:gd name="csX5" fmla="*/ 11648662 w 11648662"/>
              <a:gd name="csY5" fmla="*/ 1292091 h 6858000"/>
              <a:gd name="csX6" fmla="*/ 11648662 w 11648662"/>
              <a:gd name="csY6" fmla="*/ 1798982 h 6858000"/>
              <a:gd name="csX7" fmla="*/ 11539329 w 11648662"/>
              <a:gd name="csY7" fmla="*/ 1908315 h 6858000"/>
              <a:gd name="csX8" fmla="*/ 11102011 w 11648662"/>
              <a:gd name="csY8" fmla="*/ 1908315 h 6858000"/>
              <a:gd name="csX9" fmla="*/ 11082130 w 11648662"/>
              <a:gd name="csY9" fmla="*/ 1904301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1186772"/>
                </a:lnTo>
                <a:lnTo>
                  <a:pt x="11102011" y="1182758"/>
                </a:lnTo>
                <a:lnTo>
                  <a:pt x="11539329" y="1182758"/>
                </a:lnTo>
                <a:cubicBezTo>
                  <a:pt x="11599712" y="1182758"/>
                  <a:pt x="11648662" y="1231708"/>
                  <a:pt x="11648662" y="1292091"/>
                </a:cubicBezTo>
                <a:lnTo>
                  <a:pt x="11648662" y="1798982"/>
                </a:lnTo>
                <a:cubicBezTo>
                  <a:pt x="11648662" y="1859365"/>
                  <a:pt x="11599712" y="1908315"/>
                  <a:pt x="11539329" y="1908315"/>
                </a:cubicBezTo>
                <a:lnTo>
                  <a:pt x="11102011" y="1908315"/>
                </a:lnTo>
                <a:lnTo>
                  <a:pt x="11082130" y="1904301"/>
                </a:lnTo>
                <a:lnTo>
                  <a:pt x="11082130" y="6858000"/>
                </a:lnTo>
                <a:lnTo>
                  <a:pt x="0" y="6858000"/>
                </a:lnTo>
                <a:close/>
              </a:path>
            </a:pathLst>
          </a:custGeom>
          <a:solidFill>
            <a:srgbClr val="C39BE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 name="ZoneTexte 1">
            <a:extLst>
              <a:ext uri="{FF2B5EF4-FFF2-40B4-BE49-F238E27FC236}">
                <a16:creationId xmlns:a16="http://schemas.microsoft.com/office/drawing/2014/main" id="{49410142-1F90-7759-B909-6C2D826AA8FB}"/>
              </a:ext>
            </a:extLst>
          </p:cNvPr>
          <p:cNvSpPr txBox="1"/>
          <p:nvPr/>
        </p:nvSpPr>
        <p:spPr>
          <a:xfrm>
            <a:off x="11382518" y="3728720"/>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01</a:t>
            </a:r>
            <a:endParaRPr lang="fr-FR" sz="4000" dirty="0">
              <a:solidFill>
                <a:schemeClr val="bg1">
                  <a:alpha val="20000"/>
                </a:schemeClr>
              </a:solidFill>
              <a:latin typeface="Gill Sans Ultra Bold Condensed" panose="020B0A06020104020203" pitchFamily="34" charset="0"/>
            </a:endParaRPr>
          </a:p>
        </p:txBody>
      </p:sp>
      <p:sp>
        <p:nvSpPr>
          <p:cNvPr id="4" name="ZoneTexte 3">
            <a:extLst>
              <a:ext uri="{FF2B5EF4-FFF2-40B4-BE49-F238E27FC236}">
                <a16:creationId xmlns:a16="http://schemas.microsoft.com/office/drawing/2014/main" id="{EB9518CB-5D72-D9F0-B640-7CC38C1E31D1}"/>
              </a:ext>
            </a:extLst>
          </p:cNvPr>
          <p:cNvSpPr txBox="1"/>
          <p:nvPr/>
        </p:nvSpPr>
        <p:spPr>
          <a:xfrm>
            <a:off x="11050116" y="2519680"/>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02</a:t>
            </a:r>
            <a:endParaRPr lang="fr-FR" sz="4000" dirty="0">
              <a:solidFill>
                <a:schemeClr val="bg1">
                  <a:alpha val="20000"/>
                </a:schemeClr>
              </a:solidFill>
              <a:latin typeface="Gill Sans Ultra Bold Condensed" panose="020B0A06020104020203" pitchFamily="34" charset="0"/>
            </a:endParaRPr>
          </a:p>
        </p:txBody>
      </p:sp>
      <p:sp>
        <p:nvSpPr>
          <p:cNvPr id="6" name="ZoneTexte 5">
            <a:extLst>
              <a:ext uri="{FF2B5EF4-FFF2-40B4-BE49-F238E27FC236}">
                <a16:creationId xmlns:a16="http://schemas.microsoft.com/office/drawing/2014/main" id="{7025F085-9B28-DAAB-C8E2-5A1DE0182CA7}"/>
              </a:ext>
            </a:extLst>
          </p:cNvPr>
          <p:cNvSpPr txBox="1"/>
          <p:nvPr/>
        </p:nvSpPr>
        <p:spPr>
          <a:xfrm>
            <a:off x="10659724" y="1171383"/>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03</a:t>
            </a:r>
            <a:endParaRPr lang="fr-FR" sz="4000" dirty="0">
              <a:solidFill>
                <a:schemeClr val="bg1">
                  <a:alpha val="20000"/>
                </a:schemeClr>
              </a:solidFill>
              <a:latin typeface="Gill Sans Ultra Bold Condensed" panose="020B0A06020104020203" pitchFamily="34" charset="0"/>
            </a:endParaRPr>
          </a:p>
        </p:txBody>
      </p:sp>
      <p:sp>
        <p:nvSpPr>
          <p:cNvPr id="10" name="ZoneTexte 9">
            <a:extLst>
              <a:ext uri="{FF2B5EF4-FFF2-40B4-BE49-F238E27FC236}">
                <a16:creationId xmlns:a16="http://schemas.microsoft.com/office/drawing/2014/main" id="{D6A74D05-A28F-B150-AB4A-8DE43C1D9D37}"/>
              </a:ext>
            </a:extLst>
          </p:cNvPr>
          <p:cNvSpPr txBox="1"/>
          <p:nvPr/>
        </p:nvSpPr>
        <p:spPr>
          <a:xfrm>
            <a:off x="2517799" y="427175"/>
            <a:ext cx="6266328" cy="707886"/>
          </a:xfrm>
          <a:prstGeom prst="rect">
            <a:avLst/>
          </a:prstGeom>
          <a:noFill/>
        </p:spPr>
        <p:txBody>
          <a:bodyPr wrap="square">
            <a:spAutoFit/>
          </a:bodyPr>
          <a:lstStyle/>
          <a:p>
            <a:pPr algn="ctr"/>
            <a:r>
              <a:rPr lang="en-GB" sz="4000" b="1" noProof="0" dirty="0">
                <a:solidFill>
                  <a:srgbClr val="FFFFCC"/>
                </a:solidFill>
                <a:latin typeface="Book Antiqua" panose="02040602050305030304" pitchFamily="18" charset="0"/>
              </a:rPr>
              <a:t>Git &amp; GitHub</a:t>
            </a:r>
          </a:p>
        </p:txBody>
      </p:sp>
      <p:sp>
        <p:nvSpPr>
          <p:cNvPr id="11" name="ZoneTexte 10">
            <a:extLst>
              <a:ext uri="{FF2B5EF4-FFF2-40B4-BE49-F238E27FC236}">
                <a16:creationId xmlns:a16="http://schemas.microsoft.com/office/drawing/2014/main" id="{FF95F9B6-D670-1A1E-D5DD-4F1041649C9D}"/>
              </a:ext>
            </a:extLst>
          </p:cNvPr>
          <p:cNvSpPr txBox="1"/>
          <p:nvPr/>
        </p:nvSpPr>
        <p:spPr>
          <a:xfrm>
            <a:off x="1244629" y="1924060"/>
            <a:ext cx="5810864" cy="1785104"/>
          </a:xfrm>
          <a:prstGeom prst="rect">
            <a:avLst/>
          </a:prstGeom>
          <a:noFill/>
        </p:spPr>
        <p:txBody>
          <a:bodyPr wrap="square" rtlCol="0">
            <a:spAutoFit/>
          </a:bodyPr>
          <a:lstStyle/>
          <a:p>
            <a:r>
              <a:rPr lang="en-GB" sz="2200" noProof="0" dirty="0">
                <a:solidFill>
                  <a:srgbClr val="002060"/>
                </a:solidFill>
                <a:latin typeface="Book Antiqua" panose="02040602050305030304" pitchFamily="18" charset="0"/>
              </a:rPr>
              <a:t>Git is a free, open-source version control tool that developers install locally on their personal computers, while GitHub is a pay-for-use online service built to run Git in the cloud.</a:t>
            </a:r>
          </a:p>
        </p:txBody>
      </p:sp>
      <p:pic>
        <p:nvPicPr>
          <p:cNvPr id="12" name="Picture 4" descr="‪What is the difference between Git and GitHub?‬‏">
            <a:extLst>
              <a:ext uri="{FF2B5EF4-FFF2-40B4-BE49-F238E27FC236}">
                <a16:creationId xmlns:a16="http://schemas.microsoft.com/office/drawing/2014/main" id="{394474D5-5864-94C3-6F26-1E37722BFE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628" y="3787628"/>
            <a:ext cx="3548369" cy="205685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8640387C-CAA6-ACA3-83B0-B4EC3E76D122}"/>
              </a:ext>
            </a:extLst>
          </p:cNvPr>
          <p:cNvSpPr txBox="1"/>
          <p:nvPr/>
        </p:nvSpPr>
        <p:spPr>
          <a:xfrm>
            <a:off x="953776" y="1331640"/>
            <a:ext cx="2563629" cy="461665"/>
          </a:xfrm>
          <a:prstGeom prst="rect">
            <a:avLst/>
          </a:prstGeom>
          <a:noFill/>
        </p:spPr>
        <p:txBody>
          <a:bodyPr wrap="square" rtlCol="0">
            <a:spAutoFit/>
          </a:bodyPr>
          <a:lstStyle/>
          <a:p>
            <a:r>
              <a:rPr lang="en-GB" sz="2400" dirty="0">
                <a:solidFill>
                  <a:srgbClr val="FFFFCC"/>
                </a:solidFill>
                <a:latin typeface="Book Antiqua" panose="02040602050305030304" pitchFamily="18" charset="0"/>
              </a:rPr>
              <a:t>D</a:t>
            </a:r>
            <a:r>
              <a:rPr lang="en-GB" sz="2400" noProof="0" dirty="0" err="1">
                <a:solidFill>
                  <a:srgbClr val="FFFFCC"/>
                </a:solidFill>
                <a:latin typeface="Book Antiqua" panose="02040602050305030304" pitchFamily="18" charset="0"/>
              </a:rPr>
              <a:t>efiniton</a:t>
            </a:r>
            <a:endParaRPr lang="en-GB" sz="2400" noProof="0" dirty="0">
              <a:solidFill>
                <a:srgbClr val="FFFFCC"/>
              </a:solidFill>
              <a:latin typeface="Book Antiqua" panose="02040602050305030304" pitchFamily="18" charset="0"/>
            </a:endParaRPr>
          </a:p>
        </p:txBody>
      </p:sp>
    </p:spTree>
    <p:extLst>
      <p:ext uri="{BB962C8B-B14F-4D97-AF65-F5344CB8AC3E}">
        <p14:creationId xmlns:p14="http://schemas.microsoft.com/office/powerpoint/2010/main" val="10418317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2CBD51B1-7A36-40AB-0C4C-438314A110AD}"/>
            </a:ext>
          </a:extLst>
        </p:cNvPr>
        <p:cNvGrpSpPr/>
        <p:nvPr/>
      </p:nvGrpSpPr>
      <p:grpSpPr>
        <a:xfrm>
          <a:off x="0" y="0"/>
          <a:ext cx="0" cy="0"/>
          <a:chOff x="0" y="0"/>
          <a:chExt cx="0" cy="0"/>
        </a:xfrm>
      </p:grpSpPr>
      <p:sp>
        <p:nvSpPr>
          <p:cNvPr id="3" name="Forme libre : forme 2">
            <a:extLst>
              <a:ext uri="{FF2B5EF4-FFF2-40B4-BE49-F238E27FC236}">
                <a16:creationId xmlns:a16="http://schemas.microsoft.com/office/drawing/2014/main" id="{F40CFBC2-31AE-D3D0-7478-F4576C18C9D9}"/>
              </a:ext>
            </a:extLst>
          </p:cNvPr>
          <p:cNvSpPr/>
          <p:nvPr/>
        </p:nvSpPr>
        <p:spPr>
          <a:xfrm>
            <a:off x="722243" y="29818"/>
            <a:ext cx="11469757" cy="6798364"/>
          </a:xfrm>
          <a:custGeom>
            <a:avLst/>
            <a:gdLst>
              <a:gd name="csX0" fmla="*/ 0 w 11648662"/>
              <a:gd name="csY0" fmla="*/ 0 h 6858000"/>
              <a:gd name="csX1" fmla="*/ 11082130 w 11648662"/>
              <a:gd name="csY1" fmla="*/ 0 h 6858000"/>
              <a:gd name="csX2" fmla="*/ 11082130 w 11648662"/>
              <a:gd name="csY2" fmla="*/ 3696401 h 6858000"/>
              <a:gd name="csX3" fmla="*/ 11102011 w 11648662"/>
              <a:gd name="csY3" fmla="*/ 3692387 h 6858000"/>
              <a:gd name="csX4" fmla="*/ 11539329 w 11648662"/>
              <a:gd name="csY4" fmla="*/ 3692387 h 6858000"/>
              <a:gd name="csX5" fmla="*/ 11648662 w 11648662"/>
              <a:gd name="csY5" fmla="*/ 3801720 h 6858000"/>
              <a:gd name="csX6" fmla="*/ 11648662 w 11648662"/>
              <a:gd name="csY6" fmla="*/ 4308611 h 6858000"/>
              <a:gd name="csX7" fmla="*/ 11539329 w 11648662"/>
              <a:gd name="csY7" fmla="*/ 4417944 h 6858000"/>
              <a:gd name="csX8" fmla="*/ 11102011 w 11648662"/>
              <a:gd name="csY8" fmla="*/ 4417944 h 6858000"/>
              <a:gd name="csX9" fmla="*/ 11082130 w 11648662"/>
              <a:gd name="csY9" fmla="*/ 4413930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3696401"/>
                </a:lnTo>
                <a:lnTo>
                  <a:pt x="11102011" y="3692387"/>
                </a:lnTo>
                <a:lnTo>
                  <a:pt x="11539329" y="3692387"/>
                </a:lnTo>
                <a:cubicBezTo>
                  <a:pt x="11599712" y="3692387"/>
                  <a:pt x="11648662" y="3741337"/>
                  <a:pt x="11648662" y="3801720"/>
                </a:cubicBezTo>
                <a:lnTo>
                  <a:pt x="11648662" y="4308611"/>
                </a:lnTo>
                <a:cubicBezTo>
                  <a:pt x="11648662" y="4368994"/>
                  <a:pt x="11599712" y="4417944"/>
                  <a:pt x="11539329" y="4417944"/>
                </a:cubicBezTo>
                <a:lnTo>
                  <a:pt x="11102011" y="4417944"/>
                </a:lnTo>
                <a:lnTo>
                  <a:pt x="11082130" y="4413930"/>
                </a:lnTo>
                <a:lnTo>
                  <a:pt x="11082130" y="6858000"/>
                </a:lnTo>
                <a:lnTo>
                  <a:pt x="0" y="6858000"/>
                </a:lnTo>
                <a:close/>
              </a:path>
            </a:pathLst>
          </a:custGeom>
          <a:solidFill>
            <a:srgbClr val="7030A0"/>
          </a:solidFill>
          <a:ln>
            <a:noFill/>
          </a:ln>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8" name="Forme libre : forme 7">
            <a:extLst>
              <a:ext uri="{FF2B5EF4-FFF2-40B4-BE49-F238E27FC236}">
                <a16:creationId xmlns:a16="http://schemas.microsoft.com/office/drawing/2014/main" id="{35E43D87-247E-2968-4314-1D692E7F161F}"/>
              </a:ext>
            </a:extLst>
          </p:cNvPr>
          <p:cNvSpPr/>
          <p:nvPr/>
        </p:nvSpPr>
        <p:spPr>
          <a:xfrm>
            <a:off x="722243" y="0"/>
            <a:ext cx="11151704" cy="6857997"/>
          </a:xfrm>
          <a:custGeom>
            <a:avLst/>
            <a:gdLst>
              <a:gd name="csX0" fmla="*/ 0 w 11648662"/>
              <a:gd name="csY0" fmla="*/ 0 h 6858000"/>
              <a:gd name="csX1" fmla="*/ 11082130 w 11648662"/>
              <a:gd name="csY1" fmla="*/ 0 h 6858000"/>
              <a:gd name="csX2" fmla="*/ 11082130 w 11648662"/>
              <a:gd name="csY2" fmla="*/ 2498737 h 6858000"/>
              <a:gd name="csX3" fmla="*/ 11102011 w 11648662"/>
              <a:gd name="csY3" fmla="*/ 2494723 h 6858000"/>
              <a:gd name="csX4" fmla="*/ 11539329 w 11648662"/>
              <a:gd name="csY4" fmla="*/ 2494723 h 6858000"/>
              <a:gd name="csX5" fmla="*/ 11648662 w 11648662"/>
              <a:gd name="csY5" fmla="*/ 2604056 h 6858000"/>
              <a:gd name="csX6" fmla="*/ 11648662 w 11648662"/>
              <a:gd name="csY6" fmla="*/ 3110947 h 6858000"/>
              <a:gd name="csX7" fmla="*/ 11539329 w 11648662"/>
              <a:gd name="csY7" fmla="*/ 3220280 h 6858000"/>
              <a:gd name="csX8" fmla="*/ 11102011 w 11648662"/>
              <a:gd name="csY8" fmla="*/ 3220280 h 6858000"/>
              <a:gd name="csX9" fmla="*/ 11082130 w 11648662"/>
              <a:gd name="csY9" fmla="*/ 3216266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2498737"/>
                </a:lnTo>
                <a:lnTo>
                  <a:pt x="11102011" y="2494723"/>
                </a:lnTo>
                <a:lnTo>
                  <a:pt x="11539329" y="2494723"/>
                </a:lnTo>
                <a:cubicBezTo>
                  <a:pt x="11599712" y="2494723"/>
                  <a:pt x="11648662" y="2543673"/>
                  <a:pt x="11648662" y="2604056"/>
                </a:cubicBezTo>
                <a:lnTo>
                  <a:pt x="11648662" y="3110947"/>
                </a:lnTo>
                <a:cubicBezTo>
                  <a:pt x="11648662" y="3171330"/>
                  <a:pt x="11599712" y="3220280"/>
                  <a:pt x="11539329" y="3220280"/>
                </a:cubicBezTo>
                <a:lnTo>
                  <a:pt x="11102011" y="3220280"/>
                </a:lnTo>
                <a:lnTo>
                  <a:pt x="11082130" y="3216266"/>
                </a:lnTo>
                <a:lnTo>
                  <a:pt x="11082130" y="6858000"/>
                </a:lnTo>
                <a:lnTo>
                  <a:pt x="0" y="6858000"/>
                </a:lnTo>
                <a:close/>
              </a:path>
            </a:pathLst>
          </a:custGeom>
          <a:solidFill>
            <a:srgbClr val="A162D0"/>
          </a:solidFill>
          <a:effectLst>
            <a:outerShdw blurRad="1270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Forme libre : forme 8">
            <a:extLst>
              <a:ext uri="{FF2B5EF4-FFF2-40B4-BE49-F238E27FC236}">
                <a16:creationId xmlns:a16="http://schemas.microsoft.com/office/drawing/2014/main" id="{4B29425C-4AE6-90C1-3140-B2EBA2CB72ED}"/>
              </a:ext>
            </a:extLst>
          </p:cNvPr>
          <p:cNvSpPr/>
          <p:nvPr/>
        </p:nvSpPr>
        <p:spPr>
          <a:xfrm>
            <a:off x="0" y="-59635"/>
            <a:ext cx="11555894" cy="6887817"/>
          </a:xfrm>
          <a:custGeom>
            <a:avLst/>
            <a:gdLst>
              <a:gd name="csX0" fmla="*/ 0 w 11648662"/>
              <a:gd name="csY0" fmla="*/ 0 h 6858000"/>
              <a:gd name="csX1" fmla="*/ 11082130 w 11648662"/>
              <a:gd name="csY1" fmla="*/ 0 h 6858000"/>
              <a:gd name="csX2" fmla="*/ 11082130 w 11648662"/>
              <a:gd name="csY2" fmla="*/ 1186772 h 6858000"/>
              <a:gd name="csX3" fmla="*/ 11102011 w 11648662"/>
              <a:gd name="csY3" fmla="*/ 1182758 h 6858000"/>
              <a:gd name="csX4" fmla="*/ 11539329 w 11648662"/>
              <a:gd name="csY4" fmla="*/ 1182758 h 6858000"/>
              <a:gd name="csX5" fmla="*/ 11648662 w 11648662"/>
              <a:gd name="csY5" fmla="*/ 1292091 h 6858000"/>
              <a:gd name="csX6" fmla="*/ 11648662 w 11648662"/>
              <a:gd name="csY6" fmla="*/ 1798982 h 6858000"/>
              <a:gd name="csX7" fmla="*/ 11539329 w 11648662"/>
              <a:gd name="csY7" fmla="*/ 1908315 h 6858000"/>
              <a:gd name="csX8" fmla="*/ 11102011 w 11648662"/>
              <a:gd name="csY8" fmla="*/ 1908315 h 6858000"/>
              <a:gd name="csX9" fmla="*/ 11082130 w 11648662"/>
              <a:gd name="csY9" fmla="*/ 1904301 h 6858000"/>
              <a:gd name="csX10" fmla="*/ 11082130 w 11648662"/>
              <a:gd name="csY10" fmla="*/ 6858000 h 6858000"/>
              <a:gd name="csX11" fmla="*/ 0 w 11648662"/>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48662" h="6858000">
                <a:moveTo>
                  <a:pt x="0" y="0"/>
                </a:moveTo>
                <a:lnTo>
                  <a:pt x="11082130" y="0"/>
                </a:lnTo>
                <a:lnTo>
                  <a:pt x="11082130" y="1186772"/>
                </a:lnTo>
                <a:lnTo>
                  <a:pt x="11102011" y="1182758"/>
                </a:lnTo>
                <a:lnTo>
                  <a:pt x="11539329" y="1182758"/>
                </a:lnTo>
                <a:cubicBezTo>
                  <a:pt x="11599712" y="1182758"/>
                  <a:pt x="11648662" y="1231708"/>
                  <a:pt x="11648662" y="1292091"/>
                </a:cubicBezTo>
                <a:lnTo>
                  <a:pt x="11648662" y="1798982"/>
                </a:lnTo>
                <a:cubicBezTo>
                  <a:pt x="11648662" y="1859365"/>
                  <a:pt x="11599712" y="1908315"/>
                  <a:pt x="11539329" y="1908315"/>
                </a:cubicBezTo>
                <a:lnTo>
                  <a:pt x="11102011" y="1908315"/>
                </a:lnTo>
                <a:lnTo>
                  <a:pt x="11082130" y="1904301"/>
                </a:lnTo>
                <a:lnTo>
                  <a:pt x="11082130" y="6858000"/>
                </a:lnTo>
                <a:lnTo>
                  <a:pt x="0" y="6858000"/>
                </a:lnTo>
                <a:close/>
              </a:path>
            </a:pathLst>
          </a:custGeom>
          <a:solidFill>
            <a:srgbClr val="C39BE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 name="ZoneTexte 1">
            <a:extLst>
              <a:ext uri="{FF2B5EF4-FFF2-40B4-BE49-F238E27FC236}">
                <a16:creationId xmlns:a16="http://schemas.microsoft.com/office/drawing/2014/main" id="{251E3670-A671-A501-1F3E-E992887F8B27}"/>
              </a:ext>
            </a:extLst>
          </p:cNvPr>
          <p:cNvSpPr txBox="1"/>
          <p:nvPr/>
        </p:nvSpPr>
        <p:spPr>
          <a:xfrm>
            <a:off x="11382518" y="3728720"/>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01</a:t>
            </a:r>
            <a:endParaRPr lang="fr-FR" sz="4000" dirty="0">
              <a:solidFill>
                <a:schemeClr val="bg1">
                  <a:alpha val="20000"/>
                </a:schemeClr>
              </a:solidFill>
              <a:latin typeface="Gill Sans Ultra Bold Condensed" panose="020B0A06020104020203" pitchFamily="34" charset="0"/>
            </a:endParaRPr>
          </a:p>
        </p:txBody>
      </p:sp>
      <p:sp>
        <p:nvSpPr>
          <p:cNvPr id="4" name="ZoneTexte 3">
            <a:extLst>
              <a:ext uri="{FF2B5EF4-FFF2-40B4-BE49-F238E27FC236}">
                <a16:creationId xmlns:a16="http://schemas.microsoft.com/office/drawing/2014/main" id="{2C291DE4-DB9A-8C9A-1672-27A0C7C6FD7A}"/>
              </a:ext>
            </a:extLst>
          </p:cNvPr>
          <p:cNvSpPr txBox="1"/>
          <p:nvPr/>
        </p:nvSpPr>
        <p:spPr>
          <a:xfrm>
            <a:off x="11050116" y="2519680"/>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02</a:t>
            </a:r>
            <a:endParaRPr lang="fr-FR" sz="4000" dirty="0">
              <a:solidFill>
                <a:schemeClr val="bg1">
                  <a:alpha val="20000"/>
                </a:schemeClr>
              </a:solidFill>
              <a:latin typeface="Gill Sans Ultra Bold Condensed" panose="020B0A06020104020203" pitchFamily="34" charset="0"/>
            </a:endParaRPr>
          </a:p>
        </p:txBody>
      </p:sp>
      <p:sp>
        <p:nvSpPr>
          <p:cNvPr id="6" name="ZoneTexte 5">
            <a:extLst>
              <a:ext uri="{FF2B5EF4-FFF2-40B4-BE49-F238E27FC236}">
                <a16:creationId xmlns:a16="http://schemas.microsoft.com/office/drawing/2014/main" id="{09558745-E6FB-FE9D-3E3A-0E7B3D9CE22E}"/>
              </a:ext>
            </a:extLst>
          </p:cNvPr>
          <p:cNvSpPr txBox="1"/>
          <p:nvPr/>
        </p:nvSpPr>
        <p:spPr>
          <a:xfrm>
            <a:off x="10659724" y="1171383"/>
            <a:ext cx="982857" cy="707886"/>
          </a:xfrm>
          <a:prstGeom prst="rect">
            <a:avLst/>
          </a:prstGeom>
          <a:noFill/>
          <a:effectLst>
            <a:outerShdw blurRad="25400" dist="50800" dir="5400000" algn="ctr" rotWithShape="0">
              <a:srgbClr val="000000">
                <a:alpha val="43137"/>
              </a:srgbClr>
            </a:outerShdw>
          </a:effectLst>
        </p:spPr>
        <p:txBody>
          <a:bodyPr wrap="square" rtlCol="0">
            <a:spAutoFit/>
          </a:bodyPr>
          <a:lstStyle/>
          <a:p>
            <a:pPr algn="ctr"/>
            <a:r>
              <a:rPr lang="en-GB" sz="4000" dirty="0">
                <a:solidFill>
                  <a:schemeClr val="bg1">
                    <a:alpha val="20000"/>
                  </a:schemeClr>
                </a:solidFill>
                <a:latin typeface="Gill Sans Ultra Bold Condensed" panose="020B0A06020104020203" pitchFamily="34" charset="0"/>
              </a:rPr>
              <a:t>03</a:t>
            </a:r>
            <a:endParaRPr lang="fr-FR" sz="4000" dirty="0">
              <a:solidFill>
                <a:schemeClr val="bg1">
                  <a:alpha val="20000"/>
                </a:schemeClr>
              </a:solidFill>
              <a:latin typeface="Gill Sans Ultra Bold Condensed" panose="020B0A06020104020203" pitchFamily="34" charset="0"/>
            </a:endParaRPr>
          </a:p>
        </p:txBody>
      </p:sp>
      <p:sp>
        <p:nvSpPr>
          <p:cNvPr id="5" name="ZoneTexte 4">
            <a:extLst>
              <a:ext uri="{FF2B5EF4-FFF2-40B4-BE49-F238E27FC236}">
                <a16:creationId xmlns:a16="http://schemas.microsoft.com/office/drawing/2014/main" id="{533295D6-0549-82CD-88B7-B3BF6E0D831D}"/>
              </a:ext>
            </a:extLst>
          </p:cNvPr>
          <p:cNvSpPr txBox="1"/>
          <p:nvPr/>
        </p:nvSpPr>
        <p:spPr>
          <a:xfrm>
            <a:off x="1014296" y="1454203"/>
            <a:ext cx="8192683" cy="2123658"/>
          </a:xfrm>
          <a:prstGeom prst="rect">
            <a:avLst/>
          </a:prstGeom>
          <a:noFill/>
        </p:spPr>
        <p:txBody>
          <a:bodyPr wrap="square" rtlCol="0">
            <a:spAutoFit/>
          </a:bodyPr>
          <a:lstStyle/>
          <a:p>
            <a:pPr marL="342900" indent="-342900">
              <a:buAutoNum type="arabicPeriod"/>
            </a:pPr>
            <a:r>
              <a:rPr lang="en-GB" sz="2200" noProof="0" dirty="0">
                <a:solidFill>
                  <a:srgbClr val="002060"/>
                </a:solidFill>
                <a:latin typeface="Book Antiqua" panose="02040602050305030304" pitchFamily="18" charset="0"/>
              </a:rPr>
              <a:t>Streamlined Version Control</a:t>
            </a:r>
          </a:p>
          <a:p>
            <a:pPr marL="457200" indent="-457200">
              <a:buAutoNum type="arabicPeriod"/>
            </a:pPr>
            <a:r>
              <a:rPr lang="en-GB" sz="2200" noProof="0" dirty="0">
                <a:solidFill>
                  <a:srgbClr val="002060"/>
                </a:solidFill>
                <a:latin typeface="Book Antiqua" panose="02040602050305030304" pitchFamily="18" charset="0"/>
              </a:rPr>
              <a:t>Enhanced Collaboration</a:t>
            </a:r>
          </a:p>
          <a:p>
            <a:pPr marL="457200" indent="-457200">
              <a:buAutoNum type="arabicPeriod"/>
            </a:pPr>
            <a:r>
              <a:rPr lang="en-GB" sz="2200" noProof="0" dirty="0">
                <a:solidFill>
                  <a:srgbClr val="002060"/>
                </a:solidFill>
                <a:latin typeface="Book Antiqua" panose="02040602050305030304" pitchFamily="18" charset="0"/>
              </a:rPr>
              <a:t> Promoting Transparency and Documentation</a:t>
            </a:r>
          </a:p>
          <a:p>
            <a:pPr marL="457200" indent="-457200">
              <a:buAutoNum type="arabicPeriod"/>
            </a:pPr>
            <a:r>
              <a:rPr lang="en-GB" sz="2200" noProof="0" dirty="0">
                <a:solidFill>
                  <a:srgbClr val="002060"/>
                </a:solidFill>
                <a:latin typeface="Book Antiqua" panose="02040602050305030304" pitchFamily="18" charset="0"/>
              </a:rPr>
              <a:t> Building and Nurturing Communities</a:t>
            </a:r>
          </a:p>
          <a:p>
            <a:pPr marL="457200" indent="-457200">
              <a:buAutoNum type="arabicPeriod"/>
            </a:pPr>
            <a:r>
              <a:rPr lang="en-GB" sz="2200" noProof="0" dirty="0">
                <a:solidFill>
                  <a:srgbClr val="002060"/>
                </a:solidFill>
                <a:latin typeface="Book Antiqua" panose="02040602050305030304" pitchFamily="18" charset="0"/>
              </a:rPr>
              <a:t>Integrating with Modern Development Tools</a:t>
            </a:r>
          </a:p>
          <a:p>
            <a:pPr marL="457200" indent="-457200">
              <a:buAutoNum type="arabicPeriod"/>
            </a:pPr>
            <a:r>
              <a:rPr lang="en-GB" sz="2200" noProof="0" dirty="0">
                <a:solidFill>
                  <a:srgbClr val="002060"/>
                </a:solidFill>
                <a:latin typeface="Book Antiqua" panose="02040602050305030304" pitchFamily="18" charset="0"/>
              </a:rPr>
              <a:t>Security and Code Quality</a:t>
            </a:r>
          </a:p>
        </p:txBody>
      </p:sp>
      <p:sp>
        <p:nvSpPr>
          <p:cNvPr id="7" name="ZoneTexte 6">
            <a:extLst>
              <a:ext uri="{FF2B5EF4-FFF2-40B4-BE49-F238E27FC236}">
                <a16:creationId xmlns:a16="http://schemas.microsoft.com/office/drawing/2014/main" id="{48B4BAD5-48B4-AED5-1AFC-163D356943B1}"/>
              </a:ext>
            </a:extLst>
          </p:cNvPr>
          <p:cNvSpPr txBox="1"/>
          <p:nvPr/>
        </p:nvSpPr>
        <p:spPr>
          <a:xfrm>
            <a:off x="1585745" y="131240"/>
            <a:ext cx="8384403" cy="861774"/>
          </a:xfrm>
          <a:prstGeom prst="rect">
            <a:avLst/>
          </a:prstGeom>
          <a:noFill/>
        </p:spPr>
        <p:txBody>
          <a:bodyPr wrap="square" rtlCol="0">
            <a:spAutoFit/>
          </a:bodyPr>
          <a:lstStyle/>
          <a:p>
            <a:r>
              <a:rPr lang="en-GB" sz="2500" b="1" noProof="0" dirty="0">
                <a:solidFill>
                  <a:srgbClr val="FFFFCC"/>
                </a:solidFill>
                <a:latin typeface="Book Antiqua" panose="02040602050305030304" pitchFamily="18" charset="0"/>
              </a:rPr>
              <a:t>The Importance of GitHub in Modern Development</a:t>
            </a:r>
          </a:p>
          <a:p>
            <a:endParaRPr lang="en-GB" sz="2500" noProof="0" dirty="0">
              <a:solidFill>
                <a:srgbClr val="FFFFCC"/>
              </a:solidFill>
              <a:latin typeface="Book Antiqua" panose="02040602050305030304" pitchFamily="18" charset="0"/>
            </a:endParaRPr>
          </a:p>
        </p:txBody>
      </p:sp>
      <p:pic>
        <p:nvPicPr>
          <p:cNvPr id="14" name="Picture 10" descr="‪Week 1 - Part 2: Basics of Git and Github‬‏">
            <a:extLst>
              <a:ext uri="{FF2B5EF4-FFF2-40B4-BE49-F238E27FC236}">
                <a16:creationId xmlns:a16="http://schemas.microsoft.com/office/drawing/2014/main" id="{1C2474DF-C5BD-7207-A4B8-EE2256E61E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908" y="5201440"/>
            <a:ext cx="2619092" cy="109443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GitHub/GIT – NicolasWailly‬‏">
            <a:extLst>
              <a:ext uri="{FF2B5EF4-FFF2-40B4-BE49-F238E27FC236}">
                <a16:creationId xmlns:a16="http://schemas.microsoft.com/office/drawing/2014/main" id="{B0E04D03-BDF3-5346-C2D4-7A11B55477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8547" y="3381681"/>
            <a:ext cx="3514725"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68234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CBD11C74-DD2A-AF08-9FB8-4985DD475768}"/>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F2ABDDA1-BEDF-C5B3-7060-60BE67D215F3}"/>
              </a:ext>
            </a:extLst>
          </p:cNvPr>
          <p:cNvSpPr txBox="1"/>
          <p:nvPr/>
        </p:nvSpPr>
        <p:spPr>
          <a:xfrm>
            <a:off x="1014296" y="1454203"/>
            <a:ext cx="8192683" cy="2123658"/>
          </a:xfrm>
          <a:prstGeom prst="rect">
            <a:avLst/>
          </a:prstGeom>
          <a:noFill/>
        </p:spPr>
        <p:txBody>
          <a:bodyPr wrap="square" rtlCol="0">
            <a:spAutoFit/>
          </a:bodyPr>
          <a:lstStyle/>
          <a:p>
            <a:pPr marL="342900" indent="-342900">
              <a:buAutoNum type="arabicPeriod"/>
            </a:pPr>
            <a:r>
              <a:rPr lang="en-GB" sz="2200" noProof="0" dirty="0">
                <a:solidFill>
                  <a:srgbClr val="002060"/>
                </a:solidFill>
                <a:latin typeface="Book Antiqua" panose="02040602050305030304" pitchFamily="18" charset="0"/>
              </a:rPr>
              <a:t>Streamlined Version Control</a:t>
            </a:r>
          </a:p>
          <a:p>
            <a:pPr marL="457200" indent="-457200">
              <a:buAutoNum type="arabicPeriod"/>
            </a:pPr>
            <a:r>
              <a:rPr lang="en-GB" sz="2200" noProof="0" dirty="0">
                <a:solidFill>
                  <a:srgbClr val="002060"/>
                </a:solidFill>
                <a:latin typeface="Book Antiqua" panose="02040602050305030304" pitchFamily="18" charset="0"/>
              </a:rPr>
              <a:t>Enhanced Collaboration</a:t>
            </a:r>
          </a:p>
          <a:p>
            <a:pPr marL="457200" indent="-457200">
              <a:buAutoNum type="arabicPeriod"/>
            </a:pPr>
            <a:r>
              <a:rPr lang="en-GB" sz="2200" noProof="0" dirty="0">
                <a:solidFill>
                  <a:srgbClr val="002060"/>
                </a:solidFill>
                <a:latin typeface="Book Antiqua" panose="02040602050305030304" pitchFamily="18" charset="0"/>
              </a:rPr>
              <a:t> Promoting Transparency and Documentation</a:t>
            </a:r>
          </a:p>
          <a:p>
            <a:pPr marL="457200" indent="-457200">
              <a:buAutoNum type="arabicPeriod"/>
            </a:pPr>
            <a:r>
              <a:rPr lang="en-GB" sz="2200" noProof="0" dirty="0">
                <a:solidFill>
                  <a:srgbClr val="002060"/>
                </a:solidFill>
                <a:latin typeface="Book Antiqua" panose="02040602050305030304" pitchFamily="18" charset="0"/>
              </a:rPr>
              <a:t> Building and Nurturing Communities</a:t>
            </a:r>
          </a:p>
          <a:p>
            <a:pPr marL="457200" indent="-457200">
              <a:buAutoNum type="arabicPeriod"/>
            </a:pPr>
            <a:r>
              <a:rPr lang="en-GB" sz="2200" noProof="0" dirty="0">
                <a:solidFill>
                  <a:srgbClr val="002060"/>
                </a:solidFill>
                <a:latin typeface="Book Antiqua" panose="02040602050305030304" pitchFamily="18" charset="0"/>
              </a:rPr>
              <a:t>Integrating with Modern Development Tools</a:t>
            </a:r>
          </a:p>
          <a:p>
            <a:pPr marL="457200" indent="-457200">
              <a:buAutoNum type="arabicPeriod"/>
            </a:pPr>
            <a:r>
              <a:rPr lang="en-GB" sz="2200" noProof="0" dirty="0">
                <a:solidFill>
                  <a:srgbClr val="002060"/>
                </a:solidFill>
                <a:latin typeface="Book Antiqua" panose="02040602050305030304" pitchFamily="18" charset="0"/>
              </a:rPr>
              <a:t>Security and Code Quality</a:t>
            </a:r>
          </a:p>
        </p:txBody>
      </p:sp>
      <p:sp>
        <p:nvSpPr>
          <p:cNvPr id="10" name="ZoneTexte 9">
            <a:extLst>
              <a:ext uri="{FF2B5EF4-FFF2-40B4-BE49-F238E27FC236}">
                <a16:creationId xmlns:a16="http://schemas.microsoft.com/office/drawing/2014/main" id="{DFDCDD01-CFFE-DD01-C020-626A49354F13}"/>
              </a:ext>
            </a:extLst>
          </p:cNvPr>
          <p:cNvSpPr txBox="1"/>
          <p:nvPr/>
        </p:nvSpPr>
        <p:spPr>
          <a:xfrm>
            <a:off x="1877961" y="1634418"/>
            <a:ext cx="8042787" cy="4062651"/>
          </a:xfrm>
          <a:prstGeom prst="rect">
            <a:avLst/>
          </a:prstGeom>
          <a:noFill/>
        </p:spPr>
        <p:txBody>
          <a:bodyPr wrap="square" rtlCol="0">
            <a:spAutoFit/>
          </a:bodyPr>
          <a:lstStyle/>
          <a:p>
            <a:pPr algn="ctr"/>
            <a:r>
              <a:rPr lang="en-US" sz="2000" dirty="0">
                <a:solidFill>
                  <a:schemeClr val="bg1"/>
                </a:solidFill>
                <a:latin typeface="Bell MT" panose="02020503060305020303" pitchFamily="18" charset="0"/>
              </a:rPr>
              <a:t>Information and Communication Technologies (ICT) have become a fundamental part of modern society. They enable fast communication, efficient information management, and global connectivity across different sectors such as education, business, healthcare, and administration. Through tools and services like Microsoft applications, cloud computing, networks, and collaborative platforms, ICT improves productivity, supports innovation, and simplifies complex tasks.</a:t>
            </a:r>
          </a:p>
          <a:p>
            <a:pPr algn="ctr"/>
            <a:r>
              <a:rPr lang="en-US" sz="2000" dirty="0">
                <a:solidFill>
                  <a:schemeClr val="bg1"/>
                </a:solidFill>
                <a:latin typeface="Bell MT" panose="02020503060305020303" pitchFamily="18" charset="0"/>
              </a:rPr>
              <a:t>Despite challenges such as security risks and technological dependence, the benefits of ICT largely outweigh the drawbacks. Mastering ICT skills is essential for academic success and professional development, as these technologies continue to shape the future of work and digital transformation worldwide.</a:t>
            </a:r>
          </a:p>
          <a:p>
            <a:pPr algn="ctr"/>
            <a:endParaRPr lang="fr-FR" dirty="0"/>
          </a:p>
        </p:txBody>
      </p:sp>
      <p:sp>
        <p:nvSpPr>
          <p:cNvPr id="11" name="ZoneTexte 10">
            <a:extLst>
              <a:ext uri="{FF2B5EF4-FFF2-40B4-BE49-F238E27FC236}">
                <a16:creationId xmlns:a16="http://schemas.microsoft.com/office/drawing/2014/main" id="{E766273C-DA26-FE0C-EB48-53A1ED2771E5}"/>
              </a:ext>
            </a:extLst>
          </p:cNvPr>
          <p:cNvSpPr txBox="1"/>
          <p:nvPr/>
        </p:nvSpPr>
        <p:spPr>
          <a:xfrm>
            <a:off x="4286865" y="806245"/>
            <a:ext cx="2467896" cy="553998"/>
          </a:xfrm>
          <a:prstGeom prst="rect">
            <a:avLst/>
          </a:prstGeom>
          <a:noFill/>
        </p:spPr>
        <p:txBody>
          <a:bodyPr wrap="square" rtlCol="0">
            <a:spAutoFit/>
          </a:bodyPr>
          <a:lstStyle/>
          <a:p>
            <a:pPr algn="ctr"/>
            <a:r>
              <a:rPr lang="en-US" sz="3000" b="1" dirty="0">
                <a:solidFill>
                  <a:srgbClr val="FFFFCC"/>
                </a:solidFill>
                <a:latin typeface="Bell MT" panose="02020503060305020303" pitchFamily="18" charset="0"/>
              </a:rPr>
              <a:t>Conclusion</a:t>
            </a:r>
          </a:p>
        </p:txBody>
      </p:sp>
    </p:spTree>
    <p:extLst>
      <p:ext uri="{BB962C8B-B14F-4D97-AF65-F5344CB8AC3E}">
        <p14:creationId xmlns:p14="http://schemas.microsoft.com/office/powerpoint/2010/main" val="3669140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986</TotalTime>
  <Words>1069</Words>
  <Application>Microsoft Office PowerPoint</Application>
  <PresentationFormat>Grand écran</PresentationFormat>
  <Paragraphs>145</Paragraphs>
  <Slides>24</Slides>
  <Notes>5</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24</vt:i4>
      </vt:variant>
    </vt:vector>
  </HeadingPairs>
  <TitlesOfParts>
    <vt:vector size="32" baseType="lpstr">
      <vt:lpstr>Arial</vt:lpstr>
      <vt:lpstr>Bell MT</vt:lpstr>
      <vt:lpstr>Book Antiqua</vt:lpstr>
      <vt:lpstr>Calibri</vt:lpstr>
      <vt:lpstr>Calibri Light</vt:lpstr>
      <vt:lpstr>Gill Sans Ultra Bold Condensed</vt:lpstr>
      <vt:lpstr>Segoe UI Black</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Maroua Bouhadi</dc:creator>
  <cp:lastModifiedBy>Maroua Bouhadi</cp:lastModifiedBy>
  <cp:revision>6</cp:revision>
  <dcterms:created xsi:type="dcterms:W3CDTF">2025-12-14T21:25:37Z</dcterms:created>
  <dcterms:modified xsi:type="dcterms:W3CDTF">2025-12-25T00:34:52Z</dcterms:modified>
</cp:coreProperties>
</file>